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2E8F0"/>
                </a:solidFill>
                <a:latin typeface="Calibri"/>
              </a:defRPr>
            </a:pPr>
            <a:r>
              <a:t>NATIONAL INSTITUTE OF TECHNOLOGY KURUKSHETRA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DEPARTMENT OF COMPUTER ENGINEERING • AY: 2026-27 (ODD SEMESTER)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MedBoard: Multi-Agent Brain MRI Analysis &amp; Automated Reporting System</a:t>
            </a:r>
          </a:p>
          <a:p>
            <a:pPr>
              <a:defRPr sz="1350">
                <a:solidFill>
                  <a:srgbClr val="BFDBFE"/>
                </a:solidFill>
                <a:latin typeface="Calibri"/>
              </a:defRPr>
            </a:pPr>
            <a:r>
              <a:t>Mid-Semester Project Evaluation • B.Tech Project Work (CSPC401 &amp; ITPC401)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91840"/>
            <a:ext cx="512064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A365D"/>
                </a:solidFill>
                <a:latin typeface="Calibri"/>
              </a:defRPr>
            </a:pPr>
            <a:r>
              <a:t>PROJECT TEAM MEMBERS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1A365D"/>
                </a:solidFill>
              </a:rPr>
              <a:t>•  Pragya Thakur </a:t>
            </a:r>
            <a:r>
              <a:rPr sz="950">
                <a:solidFill>
                  <a:srgbClr val="718096"/>
                </a:solidFill>
              </a:rPr>
              <a:t>(Roll No: 123102162)
   B.Tech Computer Engineering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1A365D"/>
                </a:solidFill>
              </a:rPr>
              <a:t>•  Shivanshu Sajwan </a:t>
            </a:r>
            <a:r>
              <a:rPr sz="950">
                <a:solidFill>
                  <a:srgbClr val="718096"/>
                </a:solidFill>
              </a:rPr>
              <a:t>(Roll No: 123102193)
   B.Tech Computer Engineering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1A365D"/>
                </a:solidFill>
              </a:rPr>
              <a:t>•  Digvijay Singh </a:t>
            </a:r>
            <a:r>
              <a:rPr sz="950">
                <a:solidFill>
                  <a:srgbClr val="718096"/>
                </a:solidFill>
              </a:rPr>
              <a:t>(Roll No: 123102198)
   B.Tech Computer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91840"/>
            <a:ext cx="512064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342900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A365D"/>
                </a:solidFill>
                <a:latin typeface="Calibri"/>
              </a:defRPr>
            </a:pPr>
            <a:r>
              <a:t>FACULTY COORDINATOR &amp; EVALUATION COMMITTEE</a:t>
            </a: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Project Coordinator / Mentor: </a:t>
            </a:r>
            <a:r>
              <a:rPr b="0">
                <a:solidFill>
                  <a:srgbClr val="2D3748"/>
                </a:solidFill>
              </a:rPr>
              <a:t>Dr. Vishwas Rathi</a:t>
            </a: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Evaluation Committee Members: </a:t>
            </a:r>
            <a:r>
              <a:rPr b="0">
                <a:solidFill>
                  <a:srgbClr val="2D3748"/>
                </a:solidFill>
              </a:rPr>
              <a:t>Dr. Niyati Baliyan
Dr. Vijay Kumar Sharma</a:t>
            </a:r>
          </a:p>
          <a:p>
            <a:pPr>
              <a:spcAft>
                <a:spcPts val="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Evaluation Schedule: </a:t>
            </a:r>
            <a:r>
              <a:rPr b="0">
                <a:solidFill>
                  <a:srgbClr val="2D3748"/>
                </a:solidFill>
              </a:rPr>
              <a:t>Mid-Semester Evaluation • Department of Computer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B6CB0"/>
                </a:solidFill>
                <a:latin typeface="Calibri"/>
              </a:defRPr>
            </a:pPr>
            <a:r>
              <a:t>EXECUTIVE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Calibri"/>
              </a:defRPr>
            </a:pPr>
            <a:r>
              <a:t>Presentation Structure &amp; Notification Compliance</a:t>
            </a:r>
          </a:p>
          <a:p>
            <a:pPr>
              <a:spcBef>
                <a:spcPts val="200"/>
              </a:spcBef>
              <a:defRPr sz="1050">
                <a:solidFill>
                  <a:srgbClr val="718096"/>
                </a:solidFill>
                <a:latin typeface="Calibri"/>
              </a:defRPr>
            </a:pPr>
            <a:r>
              <a:t>Structured strictly in accordance with Department of Computer Engineering Mid-Sem Guidelines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Calibri"/>
              </a:defRPr>
            </a:pPr>
            <a:r>
              <a:t>NIT Kurukshetra • Department of Computer Engineering • B.Tech Project Work (CSPC401 &amp; ITPC401)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718096"/>
                </a:solidFill>
                <a:latin typeface="Calibri"/>
              </a:defRPr>
            </a:pPr>
            <a:r>
              <a:t>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725912" cy="8046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691639"/>
            <a:ext cx="731520" cy="5303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627632"/>
            <a:ext cx="9418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A365D"/>
                </a:solidFill>
                <a:latin typeface="Calibri"/>
              </a:defRPr>
            </a:pPr>
            <a:r>
              <a:t>Problem Identification &amp; Objectives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Clinical neuro-oncology challenges, diagnostic latency, limitations of standalone CAD systems, and primary MedBoard objectives.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87168"/>
            <a:ext cx="10725912" cy="8046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624327"/>
            <a:ext cx="731520" cy="5303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60320"/>
            <a:ext cx="9418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A365D"/>
                </a:solidFill>
                <a:latin typeface="Calibri"/>
              </a:defRPr>
            </a:pPr>
            <a:r>
              <a:t>Literature Review &amp; Research Gaps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Survey of foundational architectures (U-Net, U-Net++, Attention U-Net, EfficientNet, SaberNet, GeoSample) and key research gaps.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19856"/>
            <a:ext cx="10725912" cy="8046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557015"/>
            <a:ext cx="731520" cy="5303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493008"/>
            <a:ext cx="9418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A365D"/>
                </a:solidFill>
                <a:latin typeface="Calibri"/>
              </a:defRPr>
            </a:pPr>
            <a:r>
              <a:t>Methodology &amp; Work Plan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End-to-end multi-agent pipeline architecture, BRISC 2025 benchmark dataset, dual-compute infrastructure, and experimental setup.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52544"/>
            <a:ext cx="10725912" cy="8046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4489704"/>
            <a:ext cx="731520" cy="5303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425696"/>
            <a:ext cx="9418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A365D"/>
                </a:solidFill>
                <a:latin typeface="Calibri"/>
              </a:defRPr>
            </a:pPr>
            <a:r>
              <a:t>Progress Achieved (Experimental Results)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99.00% classification accuracy on BRISC 2025; 6-model segmentation benchmark (ResNet-34 U-Net++ top at 87.78% Dice); Streamlit UI.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85231"/>
            <a:ext cx="10725912" cy="8046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5422392"/>
            <a:ext cx="731520" cy="5303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358383"/>
            <a:ext cx="9418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A365D"/>
                </a:solidFill>
                <a:latin typeface="Calibri"/>
              </a:defRPr>
            </a:pPr>
            <a:r>
              <a:t>Future Work &amp; Project Timeline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Gantt schedule for feature extraction, RAG medical guideline retrieval, Gemini LLM reporting agent, and final thesis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B6CB0"/>
                </a:solidFill>
                <a:latin typeface="Calibri"/>
              </a:defRPr>
            </a:pPr>
            <a:r>
              <a:t>SECTION 1: 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Calibri"/>
              </a:defRPr>
            </a:pPr>
            <a:r>
              <a:t>Clinical Dilemmas in Brain MRI Diagnostics</a:t>
            </a:r>
          </a:p>
          <a:p>
            <a:pPr>
              <a:spcBef>
                <a:spcPts val="200"/>
              </a:spcBef>
              <a:defRPr sz="1050">
                <a:solidFill>
                  <a:srgbClr val="718096"/>
                </a:solidFill>
                <a:latin typeface="Calibri"/>
              </a:defRPr>
            </a:pPr>
            <a:r>
              <a:t>Overcoming diagnostic delays, infiltrative complexity, and black-box barriers in neuro-oncology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Calibri"/>
              </a:defRPr>
            </a:pPr>
            <a:r>
              <a:t>NIT Kurukshetra • Department of Computer Engineering • B.Tech Project Work (CSPC401 &amp; ITPC401)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718096"/>
                </a:solidFill>
                <a:latin typeface="Calibri"/>
              </a:defRPr>
            </a:pPr>
            <a:r>
              <a:t>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19072"/>
            <a:ext cx="4754880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A365D"/>
                </a:solidFill>
                <a:latin typeface="Calibri"/>
              </a:defRPr>
            </a:pPr>
            <a:r>
              <a:t>High Diagnostic Workload &amp; Triage Latency</a:t>
            </a:r>
          </a:p>
          <a:p>
            <a:pPr>
              <a:defRPr sz="1050">
                <a:solidFill>
                  <a:srgbClr val="2D3748"/>
                </a:solidFill>
                <a:latin typeface="Calibri"/>
              </a:defRPr>
            </a:pPr>
            <a:r>
              <a:t>Over 300,000 primary CNS neoplasms are diagnosed globally each year. The severe shortage of specialized neuroradiologists causes diagnostic bottlenecks where every millimeter of tumor progression affects surgical margins and survival.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55448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719072"/>
            <a:ext cx="4754880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A365D"/>
                </a:solidFill>
                <a:latin typeface="Calibri"/>
              </a:defRPr>
            </a:pPr>
            <a:r>
              <a:t>Infiltrative &amp; Ambiguous Lesion Boundaries</a:t>
            </a:r>
          </a:p>
          <a:p>
            <a:pPr>
              <a:defRPr sz="1050">
                <a:solidFill>
                  <a:srgbClr val="2D3748"/>
                </a:solidFill>
                <a:latin typeface="Calibri"/>
              </a:defRPr>
            </a:pPr>
            <a:r>
              <a:t>Intracranial neoplasms—particularly high-grade Gliomas and atypical Meningiomas—exhibit diffuse infiltrative edges with minimal intensity contrast against normal brain parenchyma, making manual boundary tracing inconsistent.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42231"/>
            <a:ext cx="4754880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A365D"/>
                </a:solidFill>
                <a:latin typeface="Calibri"/>
              </a:defRPr>
            </a:pPr>
            <a:r>
              <a:t>The 'Black-Box' Perception Barrier</a:t>
            </a:r>
          </a:p>
          <a:p>
            <a:pPr>
              <a:defRPr sz="1050">
                <a:solidFill>
                  <a:srgbClr val="2D3748"/>
                </a:solidFill>
                <a:latin typeface="Calibri"/>
              </a:defRPr>
            </a:pPr>
            <a:r>
              <a:t>Conventional deep learning CAD algorithms output raw classification labels or binary masks without clinical rationale, quantitative morphological biomarkers (area, perimeter, density), or medical guideline citations necessary for clinical adoption.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3977639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142231"/>
            <a:ext cx="4754880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A365D"/>
                </a:solidFill>
                <a:latin typeface="Calibri"/>
              </a:defRPr>
            </a:pPr>
            <a:r>
              <a:t>Fragmented Diagnostic Workflows</a:t>
            </a:r>
          </a:p>
          <a:p>
            <a:pPr>
              <a:defRPr sz="1050">
                <a:solidFill>
                  <a:srgbClr val="2D3748"/>
                </a:solidFill>
                <a:latin typeface="Calibri"/>
              </a:defRPr>
            </a:pPr>
            <a:r>
              <a:t>Clinical radiology today relies on disparate tools: one utility for detection, manual electronic calipers for tumor sizing, and unlinked dictation systems. An integrated, multi-agent perception-to-report pipeline is critically missing.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B6CB0"/>
                </a:solidFill>
                <a:latin typeface="Calibri"/>
              </a:defRPr>
            </a:pPr>
            <a:r>
              <a:t>SECTION 1: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Calibri"/>
              </a:defRPr>
            </a:pPr>
            <a:r>
              <a:t>Primary Research Goal &amp; Technical Deliverables</a:t>
            </a:r>
          </a:p>
          <a:p>
            <a:pPr>
              <a:spcBef>
                <a:spcPts val="200"/>
              </a:spcBef>
              <a:defRPr sz="1050">
                <a:solidFill>
                  <a:srgbClr val="718096"/>
                </a:solidFill>
                <a:latin typeface="Calibri"/>
              </a:defRPr>
            </a:pPr>
            <a:r>
              <a:t>MedBoard: Autonomous Multi-Agent Brain MRI Analysis and Structured Reporting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Calibri"/>
              </a:defRPr>
            </a:pPr>
            <a:r>
              <a:t>NIT Kurukshetra • Department of Computer Engineering • B.Tech Project Work (CSPC401 &amp; ITPC401)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718096"/>
                </a:solidFill>
                <a:latin typeface="Calibri"/>
              </a:defRPr>
            </a:pPr>
            <a:r>
              <a:t>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725912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B6CB0"/>
                </a:solidFill>
                <a:latin typeface="Calibri"/>
              </a:defRPr>
            </a:pPr>
            <a:r>
              <a:t>PRIMARY RESEARCH OBJECTIVE</a:t>
            </a:r>
          </a:p>
          <a:p>
            <a:pPr>
              <a:defRPr sz="1050">
                <a:solidFill>
                  <a:srgbClr val="2D3748"/>
                </a:solidFill>
                <a:latin typeface="Calibri"/>
              </a:defRPr>
            </a:pPr>
            <a:r>
              <a:t>To design and evaluate MedBoard, an end-to-end multi-agent AI framework that ingests raw 2D brain MRI slices, executes high-accuracy tumor classification and sub-millimeter semantic segmentation, extracts morphological biomarkers, and synthesizes guideline-grounded, verifiable preliminary diagnostic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2542032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2542032" cy="5486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44368"/>
            <a:ext cx="217627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1. Automated Classification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Classify axial brain MRI slices into 4 distinct clinical categories (Glioma, Meningioma, Pituitary, Normal) with &gt;98% accuracy using deep transfer learning (EfficientNet-B0).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2788920"/>
            <a:ext cx="2542032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6432" y="2788920"/>
            <a:ext cx="2542032" cy="5486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2944368"/>
            <a:ext cx="217627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2. Precision Segmentation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Benchmark and optimize 6 semantic segmentation architectures (U-Net++, SaberNet, GeoSample, Attention U-Net) to achieve &gt;86% Mean Dice on complex lesion margins.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2788920"/>
            <a:ext cx="2542032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2788920"/>
            <a:ext cx="2542032" cy="5486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2944368"/>
            <a:ext cx="217627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3. Morphometric Biomarkers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Calculate quantitative radiological biomarkers including 2D lesion surface area (mm²), perimeter, equivalent diameter, and centroid coordinates to quantify tumor burden.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2788920"/>
            <a:ext cx="2542032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06256" y="2788920"/>
            <a:ext cx="2542032" cy="5486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2944368"/>
            <a:ext cx="217627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4. Grounded Synthesis &amp; UI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Develop a RAG-powered Chief Synthesis Agent (Gemini 2.0 Flash + ChromaDB) generating standardized preliminary reports with verifiable medical citations and interactive clinician 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B6CB0"/>
                </a:solidFill>
                <a:latin typeface="Calibri"/>
              </a:defRPr>
            </a:pPr>
            <a:r>
              <a:t>SECTION 2: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Calibri"/>
              </a:defRPr>
            </a:pPr>
            <a:r>
              <a:t>Foundational Deep Learning &amp; Medical Imaging Paradigms</a:t>
            </a:r>
          </a:p>
          <a:p>
            <a:pPr>
              <a:spcBef>
                <a:spcPts val="200"/>
              </a:spcBef>
              <a:defRPr sz="1050">
                <a:solidFill>
                  <a:srgbClr val="718096"/>
                </a:solidFill>
                <a:latin typeface="Calibri"/>
              </a:defRPr>
            </a:pPr>
            <a:r>
              <a:t>Comparative synthesis of baseline architectures, recent innovations, and theoretical 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Calibri"/>
              </a:defRPr>
            </a:pPr>
            <a:r>
              <a:t>NIT Kurukshetra • Department of Computer Engineering • B.Tech Project Work (CSPC401 &amp; ITPC401)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718096"/>
                </a:solidFill>
                <a:latin typeface="Calibri"/>
              </a:defRPr>
            </a:pPr>
            <a:r>
              <a:t>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290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A365D"/>
                </a:solidFill>
                <a:latin typeface="Calibri"/>
              </a:defRPr>
            </a:pPr>
            <a:r>
              <a:t>U-Net: Biomedical Image Segmentation</a:t>
            </a:r>
          </a:p>
          <a:p>
            <a:pPr>
              <a:spcAft>
                <a:spcPts val="600"/>
              </a:spcAft>
              <a:defRPr sz="950" i="1">
                <a:solidFill>
                  <a:srgbClr val="2B6CB0"/>
                </a:solidFill>
                <a:latin typeface="Calibri"/>
              </a:defRPr>
            </a:pPr>
            <a:r>
              <a:t>Ronneberger et al. (MICCAI 2015)</a:t>
            </a:r>
          </a:p>
          <a:p>
            <a:pPr>
              <a:defRPr sz="950">
                <a:solidFill>
                  <a:srgbClr val="2D3748"/>
                </a:solidFill>
                <a:latin typeface="Calibri"/>
              </a:defRPr>
            </a:pPr>
            <a:r>
              <a:t>Proposed the symmetric contracting-expanding encoder-decoder network with long skip connections, establishing the fundamental baseline for medical image semantic segmentation.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554480"/>
            <a:ext cx="34290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9164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A365D"/>
                </a:solidFill>
                <a:latin typeface="Calibri"/>
              </a:defRPr>
            </a:pPr>
            <a:r>
              <a:t>U-Net++: Nested Dense Skip Pathways</a:t>
            </a:r>
          </a:p>
          <a:p>
            <a:pPr>
              <a:spcAft>
                <a:spcPts val="600"/>
              </a:spcAft>
              <a:defRPr sz="950" i="1">
                <a:solidFill>
                  <a:srgbClr val="2B6CB0"/>
                </a:solidFill>
                <a:latin typeface="Calibri"/>
              </a:defRPr>
            </a:pPr>
            <a:r>
              <a:t>Zhou et al. (IEEE TMI 2018)</a:t>
            </a:r>
          </a:p>
          <a:p>
            <a:pPr>
              <a:defRPr sz="950">
                <a:solidFill>
                  <a:srgbClr val="2D3748"/>
                </a:solidFill>
                <a:latin typeface="Calibri"/>
              </a:defRPr>
            </a:pPr>
            <a:r>
              <a:t>Redesigned skip connections as dense nested convolutional pathways, mitigating the semantic gap between encoder and decoder feature maps and introducing multi-scale deep supervision.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554480"/>
            <a:ext cx="34290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69164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A365D"/>
                </a:solidFill>
                <a:latin typeface="Calibri"/>
              </a:defRPr>
            </a:pPr>
            <a:r>
              <a:t>Attention U-Net: Additive Gating</a:t>
            </a:r>
          </a:p>
          <a:p>
            <a:pPr>
              <a:spcAft>
                <a:spcPts val="600"/>
              </a:spcAft>
              <a:defRPr sz="950" i="1">
                <a:solidFill>
                  <a:srgbClr val="2B6CB0"/>
                </a:solidFill>
                <a:latin typeface="Calibri"/>
              </a:defRPr>
            </a:pPr>
            <a:r>
              <a:t>Oktay et al. (MIDL 2018)</a:t>
            </a:r>
          </a:p>
          <a:p>
            <a:pPr>
              <a:defRPr sz="950">
                <a:solidFill>
                  <a:srgbClr val="2D3748"/>
                </a:solidFill>
                <a:latin typeface="Calibri"/>
              </a:defRPr>
            </a:pPr>
            <a:r>
              <a:t>Integrated additive soft attention gates within skip pathways to automatically suppress task-irrelevant background regions while accentuating salient tumor features.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34290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799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A365D"/>
                </a:solidFill>
                <a:latin typeface="Calibri"/>
              </a:defRPr>
            </a:pPr>
            <a:r>
              <a:t>EfficientNet: Compound Scaling</a:t>
            </a:r>
          </a:p>
          <a:p>
            <a:pPr>
              <a:spcAft>
                <a:spcPts val="600"/>
              </a:spcAft>
              <a:defRPr sz="950" i="1">
                <a:solidFill>
                  <a:srgbClr val="2B6CB0"/>
                </a:solidFill>
                <a:latin typeface="Calibri"/>
              </a:defRPr>
            </a:pPr>
            <a:r>
              <a:t>Tan &amp; Le (ICML 2019)</a:t>
            </a:r>
          </a:p>
          <a:p>
            <a:pPr>
              <a:defRPr sz="950">
                <a:solidFill>
                  <a:srgbClr val="2D3748"/>
                </a:solidFill>
                <a:latin typeface="Calibri"/>
              </a:defRPr>
            </a:pPr>
            <a:r>
              <a:t>Systematically balances network depth, width, and input resolution via a fixed compound scaling coefficient, achieving top-tier accuracy with 4.01M parameters (EfficientNet-B0).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3977639"/>
            <a:ext cx="34290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4114799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A365D"/>
                </a:solidFill>
                <a:latin typeface="Calibri"/>
              </a:defRPr>
            </a:pPr>
            <a:r>
              <a:t>SaberNet: Spatial Relation Modeling</a:t>
            </a:r>
          </a:p>
          <a:p>
            <a:pPr>
              <a:spcAft>
                <a:spcPts val="600"/>
              </a:spcAft>
              <a:defRPr sz="950" i="1">
                <a:solidFill>
                  <a:srgbClr val="2B6CB0"/>
                </a:solidFill>
                <a:latin typeface="Calibri"/>
              </a:defRPr>
            </a:pPr>
            <a:r>
              <a:t>Pattern Recognition (2023)</a:t>
            </a:r>
          </a:p>
          <a:p>
            <a:pPr>
              <a:defRPr sz="950">
                <a:solidFill>
                  <a:srgbClr val="2D3748"/>
                </a:solidFill>
                <a:latin typeface="Calibri"/>
              </a:defRPr>
            </a:pPr>
            <a:r>
              <a:t>Self-Attention Based Effective Relation Network that constructs pairwise pixel spatial relation matrices (Q·K^T/√d) across the slice to model long-range context.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3977639"/>
            <a:ext cx="34290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4114799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A365D"/>
                </a:solidFill>
                <a:latin typeface="Calibri"/>
              </a:defRPr>
            </a:pPr>
            <a:r>
              <a:t>GeoSample: Geometry-Guided Sampling</a:t>
            </a:r>
          </a:p>
          <a:p>
            <a:pPr>
              <a:spcAft>
                <a:spcPts val="600"/>
              </a:spcAft>
              <a:defRPr sz="950" i="1">
                <a:solidFill>
                  <a:srgbClr val="2B6CB0"/>
                </a:solidFill>
                <a:latin typeface="Calibri"/>
              </a:defRPr>
            </a:pPr>
            <a:r>
              <a:t>Medical Imaging Benchmark (2025)</a:t>
            </a:r>
          </a:p>
          <a:p>
            <a:pPr>
              <a:defRPr sz="950">
                <a:solidFill>
                  <a:srgbClr val="2D3748"/>
                </a:solidFill>
                <a:latin typeface="Calibri"/>
              </a:defRPr>
            </a:pPr>
            <a:r>
              <a:t>Replaces rigid 3×3 grid convolutions with learned directional boundary probes (orientation θ, step sizes r) to extract explicit gradient and curvature differential tokens.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B6CB0"/>
                </a:solidFill>
                <a:latin typeface="Calibri"/>
              </a:defRPr>
            </a:pPr>
            <a:r>
              <a:t>SECTION 2: RESEARCH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Calibri"/>
              </a:defRPr>
            </a:pPr>
            <a:r>
              <a:t>Identified Limitations in Current Literature &amp; MedBoard Solutions</a:t>
            </a:r>
          </a:p>
          <a:p>
            <a:pPr>
              <a:spcBef>
                <a:spcPts val="200"/>
              </a:spcBef>
              <a:defRPr sz="1050">
                <a:solidFill>
                  <a:srgbClr val="718096"/>
                </a:solidFill>
                <a:latin typeface="Calibri"/>
              </a:defRPr>
            </a:pPr>
            <a:r>
              <a:t>Bridging the disconnect between computer vision benchmarks and clinical radiology utility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Calibri"/>
              </a:defRPr>
            </a:pPr>
            <a:r>
              <a:t>NIT Kurukshetra • Department of Computer Engineering • B.Tech Project Work (CSPC401 &amp; ITPC401)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718096"/>
                </a:solidFill>
                <a:latin typeface="Calibri"/>
              </a:defRPr>
            </a:pPr>
            <a:r>
              <a:t>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725912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73152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2763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GAP 1: Isolated Diagnostic Tasks</a:t>
            </a:r>
          </a:p>
          <a:p>
            <a:pPr>
              <a:spcAft>
                <a:spcPts val="200"/>
              </a:spcAft>
              <a:defRPr sz="950">
                <a:latin typeface="Calibri"/>
              </a:defRPr>
            </a:pPr>
            <a:r>
              <a:rPr b="1">
                <a:solidFill>
                  <a:srgbClr val="2B6CB0"/>
                </a:solidFill>
              </a:rPr>
              <a:t>Identified Limitation: </a:t>
            </a:r>
            <a:r>
              <a:rPr>
                <a:solidFill>
                  <a:srgbClr val="2D3748"/>
                </a:solidFill>
              </a:rPr>
              <a:t>Existing literature isolates classification from segmentation. A radiologist receives either a category label or a raw mask, but rarely an aligned dual-tier assessment.</a:t>
            </a:r>
          </a:p>
          <a:p>
            <a:pPr>
              <a:defRPr sz="9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MedBoard Solution: </a:t>
            </a:r>
            <a:r>
              <a:rPr>
                <a:solidFill>
                  <a:srgbClr val="2D3748"/>
                </a:solidFill>
              </a:rPr>
              <a:t>MedBoard Solution: Unified pipeline executing parallel perception (ResNet-34 U-Net++ segmentation + EfficientNet-B0 classification) synchronized into a shared patient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10725912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743200"/>
            <a:ext cx="73152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81635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GAP 2: Lack of Grounded Clinical Explanations</a:t>
            </a:r>
          </a:p>
          <a:p>
            <a:pPr>
              <a:spcAft>
                <a:spcPts val="200"/>
              </a:spcAft>
              <a:defRPr sz="950">
                <a:latin typeface="Calibri"/>
              </a:defRPr>
            </a:pPr>
            <a:r>
              <a:rPr b="1">
                <a:solidFill>
                  <a:srgbClr val="2B6CB0"/>
                </a:solidFill>
              </a:rPr>
              <a:t>Identified Limitation: </a:t>
            </a:r>
            <a:r>
              <a:rPr>
                <a:solidFill>
                  <a:srgbClr val="2D3748"/>
                </a:solidFill>
              </a:rPr>
              <a:t>Deep learning models function as black-box predictors, offering no reference to standard medical staging guidelines (e.g., WHO CNS5, RANO criteria).</a:t>
            </a:r>
          </a:p>
          <a:p>
            <a:pPr>
              <a:defRPr sz="9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MedBoard Solution: </a:t>
            </a:r>
            <a:r>
              <a:rPr>
                <a:solidFill>
                  <a:srgbClr val="2D3748"/>
                </a:solidFill>
              </a:rPr>
              <a:t>MedBoard Solution: Integration of a Retrieval-Augmented Generation (RAG) agent matching extracted tumor attributes with a verified medical knowledge base (ChromaDB).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725912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73152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00507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GAP 3: Complex Boundary Delineation Failures</a:t>
            </a:r>
          </a:p>
          <a:p>
            <a:pPr>
              <a:spcAft>
                <a:spcPts val="200"/>
              </a:spcAft>
              <a:defRPr sz="950">
                <a:latin typeface="Calibri"/>
              </a:defRPr>
            </a:pPr>
            <a:r>
              <a:rPr b="1">
                <a:solidFill>
                  <a:srgbClr val="2B6CB0"/>
                </a:solidFill>
              </a:rPr>
              <a:t>Identified Limitation: </a:t>
            </a:r>
            <a:r>
              <a:rPr>
                <a:solidFill>
                  <a:srgbClr val="2D3748"/>
                </a:solidFill>
              </a:rPr>
              <a:t>Standard convolutional kernels struggle to capture infiltrative micro-margins and fine dural attachments in gliomas and meningiomas.</a:t>
            </a:r>
          </a:p>
          <a:p>
            <a:pPr>
              <a:defRPr sz="9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MedBoard Solution: </a:t>
            </a:r>
            <a:r>
              <a:rPr>
                <a:solidFill>
                  <a:srgbClr val="2D3748"/>
                </a:solidFill>
              </a:rPr>
              <a:t>MedBoard Solution: Benchmarked 6 diverse paradigms (including dense nested skips, attention gates, and geometric sampling); Pretrained ResNet-34 U-Net++ achieved 87.78% Dice.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20640"/>
            <a:ext cx="10725912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120640"/>
            <a:ext cx="73152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19379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GAP 4: Clinician-AI Interface Disconnect</a:t>
            </a:r>
          </a:p>
          <a:p>
            <a:pPr>
              <a:spcAft>
                <a:spcPts val="200"/>
              </a:spcAft>
              <a:defRPr sz="950">
                <a:latin typeface="Calibri"/>
              </a:defRPr>
            </a:pPr>
            <a:r>
              <a:rPr b="1">
                <a:solidFill>
                  <a:srgbClr val="2B6CB0"/>
                </a:solidFill>
              </a:rPr>
              <a:t>Identified Limitation: </a:t>
            </a:r>
            <a:r>
              <a:rPr>
                <a:solidFill>
                  <a:srgbClr val="2D3748"/>
                </a:solidFill>
              </a:rPr>
              <a:t>Research codebases often lack real-time deployment interfaces suitable for rapid clinical review and visual verification.</a:t>
            </a:r>
          </a:p>
          <a:p>
            <a:pPr>
              <a:defRPr sz="9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MedBoard Solution: </a:t>
            </a:r>
            <a:r>
              <a:rPr>
                <a:solidFill>
                  <a:srgbClr val="2D3748"/>
                </a:solidFill>
              </a:rPr>
              <a:t>MedBoard Solution: Interactive Streamlit dashboard with real-time contour overlays, class probability graphs, quantitative lesion KPIs, and report exports.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B6CB0"/>
                </a:solidFill>
                <a:latin typeface="Calibri"/>
              </a:defRPr>
            </a:pPr>
            <a:r>
              <a:t>SECTION 3: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Calibri"/>
              </a:defRPr>
            </a:pPr>
            <a:r>
              <a:t>End-to-End Multi-Agent System Architecture</a:t>
            </a:r>
          </a:p>
          <a:p>
            <a:pPr>
              <a:spcBef>
                <a:spcPts val="200"/>
              </a:spcBef>
              <a:defRPr sz="1050">
                <a:solidFill>
                  <a:srgbClr val="718096"/>
                </a:solidFill>
                <a:latin typeface="Calibri"/>
              </a:defRPr>
            </a:pPr>
            <a:r>
              <a:t>Hierarchical agentic workflow chaining image preprocessing, perception, feature extraction, RAG, and LLM synthesis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Calibri"/>
              </a:defRPr>
            </a:pPr>
            <a:r>
              <a:t>NIT Kurukshetra • Department of Computer Engineering • B.Tech Project Work (CSPC401 &amp; ITPC401)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718096"/>
                </a:solidFill>
                <a:latin typeface="Calibri"/>
              </a:defRPr>
            </a:pPr>
            <a:r>
              <a:t>7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290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STAGE 1: Preprocessing Agent</a:t>
            </a:r>
          </a:p>
          <a:p>
            <a:pPr>
              <a:defRPr sz="950">
                <a:solidFill>
                  <a:srgbClr val="2D3748"/>
                </a:solidFill>
                <a:latin typeface="Calibri"/>
              </a:defRPr>
            </a:pPr>
            <a:r>
              <a:t>• Format validation (.jpg, .png, DICOM)</a:t>
            </a:r>
            <a:br/>
            <a:r>
              <a:t>• Intensity standardization &amp; CLAHE</a:t>
            </a:r>
            <a:br/>
            <a:r>
              <a:t>• Dual tensor resizing (224x224 / 256x256)</a:t>
            </a:r>
            <a:br/>
            <a:r>
              <a:t>• ImageNet normalization stats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554480"/>
            <a:ext cx="34290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9164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STAGE 2A: Segmentation Agent</a:t>
            </a:r>
          </a:p>
          <a:p>
            <a:pPr>
              <a:defRPr sz="950">
                <a:solidFill>
                  <a:srgbClr val="2D3748"/>
                </a:solidFill>
                <a:latin typeface="Calibri"/>
              </a:defRPr>
            </a:pPr>
            <a:r>
              <a:t>• Pretrained ResNet-34 U-Net++</a:t>
            </a:r>
            <a:br/>
            <a:r>
              <a:t>• 5-Level dense nested skip pathways</a:t>
            </a:r>
            <a:br/>
            <a:r>
              <a:t>• Multi-scale deep supervision heads</a:t>
            </a:r>
            <a:br/>
            <a:r>
              <a:t>• Outputs high-res binary tumor mask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554480"/>
            <a:ext cx="34290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69164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STAGE 2B: Classification Agent</a:t>
            </a:r>
          </a:p>
          <a:p>
            <a:pPr>
              <a:defRPr sz="950">
                <a:solidFill>
                  <a:srgbClr val="2D3748"/>
                </a:solidFill>
                <a:latin typeface="Calibri"/>
              </a:defRPr>
            </a:pPr>
            <a:r>
              <a:t>• EfficientNet-B0 backbone (4.01M params)</a:t>
            </a:r>
            <a:br/>
            <a:r>
              <a:t>• 4 Classes: Glioma, Meningioma, Pituitary, Normal</a:t>
            </a:r>
            <a:br/>
            <a:r>
              <a:t>• Softmax class probabilities</a:t>
            </a:r>
            <a:br/>
            <a:r>
              <a:t>• 99.00% Verified Test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34290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799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STAGE 3: Feature Extraction Agent</a:t>
            </a:r>
          </a:p>
          <a:p>
            <a:pPr>
              <a:defRPr sz="950">
                <a:solidFill>
                  <a:srgbClr val="2D3748"/>
                </a:solidFill>
                <a:latin typeface="Calibri"/>
              </a:defRPr>
            </a:pPr>
            <a:r>
              <a:t>• 2D Lesion Surface Area (mm² &amp; pixels)</a:t>
            </a:r>
            <a:br/>
            <a:r>
              <a:t>• Tumor perimeter, roundness &amp; circularity</a:t>
            </a:r>
            <a:br/>
            <a:r>
              <a:t>• Sellar / Midline centroid localization</a:t>
            </a:r>
            <a:br/>
            <a:r>
              <a:t>• Radiomic intensity statistics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3977639"/>
            <a:ext cx="34290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4114799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STAGE 4: Evidence Agent (RAG)</a:t>
            </a:r>
          </a:p>
          <a:p>
            <a:pPr>
              <a:defRPr sz="950">
                <a:solidFill>
                  <a:srgbClr val="2D3748"/>
                </a:solidFill>
                <a:latin typeface="Calibri"/>
              </a:defRPr>
            </a:pPr>
            <a:r>
              <a:t>• ChromaDB vector database index</a:t>
            </a:r>
            <a:br/>
            <a:r>
              <a:t>• all-MiniLM-L6-v2 dense embeddings</a:t>
            </a:r>
            <a:br/>
            <a:r>
              <a:t>• Neuro-oncology guidelines store</a:t>
            </a:r>
            <a:br/>
            <a:r>
              <a:t>• Top-k context snippet retrieval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3977639"/>
            <a:ext cx="34290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4114799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STAGE 5: Chief Synthesis Agent</a:t>
            </a:r>
          </a:p>
          <a:p>
            <a:pPr>
              <a:defRPr sz="950">
                <a:solidFill>
                  <a:srgbClr val="2D3748"/>
                </a:solidFill>
                <a:latin typeface="Calibri"/>
              </a:defRPr>
            </a:pPr>
            <a:r>
              <a:t>• Gemini 2.0 Flash API integration</a:t>
            </a:r>
            <a:br/>
            <a:r>
              <a:t>• Structured clinical radiology reporting</a:t>
            </a:r>
            <a:br/>
            <a:r>
              <a:t>• Verifiable clinical explanations</a:t>
            </a:r>
            <a:br/>
            <a:r>
              <a:t>• Streamlit clinician dashboard frontend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B6CB0"/>
                </a:solidFill>
                <a:latin typeface="Calibri"/>
              </a:defRPr>
            </a:pPr>
            <a:r>
              <a:t>SECTION 3: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Calibri"/>
              </a:defRPr>
            </a:pPr>
            <a:r>
              <a:t>Benchmark Dataset &amp; Experimental Configuration</a:t>
            </a:r>
          </a:p>
          <a:p>
            <a:pPr>
              <a:spcBef>
                <a:spcPts val="200"/>
              </a:spcBef>
              <a:defRPr sz="1050">
                <a:solidFill>
                  <a:srgbClr val="718096"/>
                </a:solidFill>
                <a:latin typeface="Calibri"/>
              </a:defRPr>
            </a:pPr>
            <a:r>
              <a:t>BRISC 2025 Brain MRI Benchmark and Dual-Tier Compute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Calibri"/>
              </a:defRPr>
            </a:pPr>
            <a:r>
              <a:t>NIT Kurukshetra • Department of Computer Engineering • B.Tech Project Work (CSPC401 &amp; ITPC401)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718096"/>
                </a:solidFill>
                <a:latin typeface="Calibri"/>
              </a:defRPr>
            </a:pPr>
            <a:r>
              <a:t>8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A365D"/>
                </a:solidFill>
                <a:latin typeface="Calibri"/>
              </a:defRPr>
            </a:pPr>
            <a:r>
              <a:t>BRISC 2025 BENCHMARK DATASET</a:t>
            </a:r>
          </a:p>
          <a:p>
            <a:pPr>
              <a:spcAft>
                <a:spcPts val="5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Benchmark Source: </a:t>
            </a:r>
            <a:r>
              <a:rPr b="0">
                <a:solidFill>
                  <a:srgbClr val="2D3748"/>
                </a:solidFill>
              </a:rPr>
              <a:t>Nature Scientific Data / arXiv:2506.14318 benchmark dataset.</a:t>
            </a:r>
          </a:p>
          <a:p>
            <a:pPr>
              <a:spcAft>
                <a:spcPts val="5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Total Cohort: </a:t>
            </a:r>
            <a:r>
              <a:rPr b="0">
                <a:solidFill>
                  <a:srgbClr val="2D3748"/>
                </a:solidFill>
              </a:rPr>
              <a:t>6,000 total axial 2D brain MRI slices (5,000 train / 1,000 test).</a:t>
            </a:r>
          </a:p>
          <a:p>
            <a:pPr>
              <a:spcAft>
                <a:spcPts val="5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Class Distribution: </a:t>
            </a:r>
            <a:r>
              <a:rPr b="0">
                <a:solidFill>
                  <a:srgbClr val="2D3748"/>
                </a:solidFill>
              </a:rPr>
              <a:t>4 balanced clinical categories:
  • Glioma (1,500 slices)
  • Meningioma (1,500 slices)
  • Pituitary Tumor (1,500 slices)
  • No Tumor / Normal Controls (1,500 slices)</a:t>
            </a:r>
          </a:p>
          <a:p>
            <a:pPr>
              <a:spcAft>
                <a:spcPts val="5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Ground Truth Masks: </a:t>
            </a:r>
            <a:r>
              <a:rPr b="0">
                <a:solidFill>
                  <a:srgbClr val="2D3748"/>
                </a:solidFill>
              </a:rPr>
              <a:t>Pixel-level manual segmentations annotated by expert neuro-radiology panels for all tumor-bearing cases.</a:t>
            </a:r>
          </a:p>
          <a:p>
            <a:pPr>
              <a:spcAft>
                <a:spcPts val="5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Data Split Hygiene: </a:t>
            </a:r>
            <a:r>
              <a:rPr b="0">
                <a:solidFill>
                  <a:srgbClr val="2D3748"/>
                </a:solidFill>
              </a:rPr>
              <a:t>Standardized 90/10 train-validation protocol with zero patient leakage; strictly held-out 1,000-slice test corpus.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55448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6916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A365D"/>
                </a:solidFill>
                <a:latin typeface="Calibri"/>
              </a:defRPr>
            </a:pPr>
            <a:r>
              <a:t>TRAINING &amp; COMPUTE SETUP</a:t>
            </a:r>
          </a:p>
          <a:p>
            <a:pPr>
              <a:spcAft>
                <a:spcPts val="5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Hardware Environments: </a:t>
            </a:r>
            <a:r>
              <a:rPr b="0">
                <a:solidFill>
                  <a:srgbClr val="2D3748"/>
                </a:solidFill>
              </a:rPr>
              <a:t>Local NVIDIA GeForce RTX 2050 (4 GB VRAM) &amp; Cloud NVIDIA Tesla T4 (16 GB VRAM, Google Colab).</a:t>
            </a:r>
          </a:p>
          <a:p>
            <a:pPr>
              <a:spcAft>
                <a:spcPts val="5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Software Framework: </a:t>
            </a:r>
            <a:r>
              <a:rPr b="0">
                <a:solidFill>
                  <a:srgbClr val="2D3748"/>
                </a:solidFill>
              </a:rPr>
              <a:t>PyTorch 2.5 + CUDA 12.4, torchvision, timm, albumentations.</a:t>
            </a:r>
          </a:p>
          <a:p>
            <a:pPr>
              <a:spcAft>
                <a:spcPts val="5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Loss Formulations: </a:t>
            </a:r>
            <a:r>
              <a:rPr b="0">
                <a:solidFill>
                  <a:srgbClr val="2D3748"/>
                </a:solidFill>
              </a:rPr>
              <a:t>Classification: Cross-Entropy with label smoothing.
Segmentation: Hybrid Dice + Binary Cross-Entropy Loss.</a:t>
            </a:r>
          </a:p>
          <a:p>
            <a:pPr>
              <a:spcAft>
                <a:spcPts val="5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Optimization Policy: </a:t>
            </a:r>
            <a:r>
              <a:rPr b="0">
                <a:solidFill>
                  <a:srgbClr val="2D3748"/>
                </a:solidFill>
              </a:rPr>
              <a:t>AdamW / Adam with Cosine Annealing learning rate schedule (warm restarts); early stopping patience = 5–10 epochs.</a:t>
            </a:r>
          </a:p>
          <a:p>
            <a:pPr>
              <a:spcAft>
                <a:spcPts val="5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Automatic Mixed Precision: </a:t>
            </a:r>
            <a:r>
              <a:rPr b="0">
                <a:solidFill>
                  <a:srgbClr val="2D3748"/>
                </a:solidFill>
              </a:rPr>
              <a:t>FP16 AMP enabled across all training passes for 2.2x training acceleration and reduced memory overhead.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B6CB0"/>
                </a:solidFill>
                <a:latin typeface="Calibri"/>
              </a:defRPr>
            </a:pPr>
            <a:r>
              <a:t>SECTION 4: PROGRESS ACHIEVED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Calibri"/>
              </a:defRPr>
            </a:pPr>
            <a:r>
              <a:t>Tumor Classification Performance (EfficientNet-B0)</a:t>
            </a:r>
          </a:p>
          <a:p>
            <a:pPr>
              <a:spcBef>
                <a:spcPts val="200"/>
              </a:spcBef>
              <a:defRPr sz="1050">
                <a:solidFill>
                  <a:srgbClr val="718096"/>
                </a:solidFill>
                <a:latin typeface="Calibri"/>
              </a:defRPr>
            </a:pPr>
            <a:r>
              <a:t>99.00% Test Accuracy across 1,000 Unseen Brain MRI Scans on BRISC 2025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Calibri"/>
              </a:defRPr>
            </a:pPr>
            <a:r>
              <a:t>NIT Kurukshetra • Department of Computer Engineering • B.Tech Project Work (CSPC401 &amp; ITPC401)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718096"/>
                </a:solidFill>
                <a:latin typeface="Calibri"/>
              </a:defRPr>
            </a:pPr>
            <a:r>
              <a:t>9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542032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2359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A365D"/>
                </a:solidFill>
                <a:latin typeface="Calibri"/>
              </a:defRPr>
            </a:pPr>
            <a:r>
              <a:t>99.00%</a:t>
            </a:r>
          </a:p>
          <a:p>
            <a:pPr algn="ctr">
              <a:defRPr sz="950" b="1">
                <a:solidFill>
                  <a:srgbClr val="2B6CB0"/>
                </a:solidFill>
                <a:latin typeface="Calibri"/>
              </a:defRPr>
            </a:pPr>
            <a:r>
              <a:t>TEST ACCURACY</a:t>
            </a:r>
          </a:p>
          <a:p>
            <a:pPr algn="ctr">
              <a:defRPr sz="850">
                <a:solidFill>
                  <a:srgbClr val="718096"/>
                </a:solidFill>
                <a:latin typeface="Calibri"/>
              </a:defRPr>
            </a:pPr>
            <a:r>
              <a:t>Full 5,000 training protocol (4.01M params)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554480"/>
            <a:ext cx="2542032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627632"/>
            <a:ext cx="2359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A365D"/>
                </a:solidFill>
                <a:latin typeface="Calibri"/>
              </a:defRPr>
            </a:pPr>
            <a:r>
              <a:t>0.9899</a:t>
            </a:r>
          </a:p>
          <a:p>
            <a:pPr algn="ctr">
              <a:defRPr sz="950" b="1">
                <a:solidFill>
                  <a:srgbClr val="2B6CB0"/>
                </a:solidFill>
                <a:latin typeface="Calibri"/>
              </a:defRPr>
            </a:pPr>
            <a:r>
              <a:t>MACRO-F1 SCORE</a:t>
            </a:r>
          </a:p>
          <a:p>
            <a:pPr algn="ctr">
              <a:defRPr sz="850">
                <a:solidFill>
                  <a:srgbClr val="718096"/>
                </a:solidFill>
                <a:latin typeface="Calibri"/>
              </a:defRPr>
            </a:pPr>
            <a:r>
              <a:t>Balanced precision/recall across all 4 classes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554480"/>
            <a:ext cx="2542032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4" y="1627632"/>
            <a:ext cx="2359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A365D"/>
                </a:solidFill>
                <a:latin typeface="Calibri"/>
              </a:defRPr>
            </a:pPr>
            <a:r>
              <a:t>0.0529</a:t>
            </a:r>
          </a:p>
          <a:p>
            <a:pPr algn="ctr">
              <a:defRPr sz="950" b="1">
                <a:solidFill>
                  <a:srgbClr val="2B6CB0"/>
                </a:solidFill>
                <a:latin typeface="Calibri"/>
              </a:defRPr>
            </a:pPr>
            <a:r>
              <a:t>TEST LOSS</a:t>
            </a:r>
          </a:p>
          <a:p>
            <a:pPr algn="ctr">
              <a:defRPr sz="850">
                <a:solidFill>
                  <a:srgbClr val="718096"/>
                </a:solidFill>
                <a:latin typeface="Calibri"/>
              </a:defRPr>
            </a:pPr>
            <a:r>
              <a:t>Cross-entropy loss on unseen 1,000 scans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554480"/>
            <a:ext cx="2542032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1627632"/>
            <a:ext cx="2359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A365D"/>
                </a:solidFill>
                <a:latin typeface="Calibri"/>
              </a:defRPr>
            </a:pPr>
            <a:r>
              <a:t>&lt; 15 ms</a:t>
            </a:r>
          </a:p>
          <a:p>
            <a:pPr algn="ctr">
              <a:defRPr sz="950" b="1">
                <a:solidFill>
                  <a:srgbClr val="2B6CB0"/>
                </a:solidFill>
                <a:latin typeface="Calibri"/>
              </a:defRPr>
            </a:pPr>
            <a:r>
              <a:t>INFERENCE LATENCY</a:t>
            </a:r>
          </a:p>
          <a:p>
            <a:pPr algn="ctr">
              <a:defRPr sz="850">
                <a:solidFill>
                  <a:srgbClr val="718096"/>
                </a:solidFill>
                <a:latin typeface="Calibri"/>
              </a:defRPr>
            </a:pPr>
            <a:r>
              <a:t>Real-time diagnostic triage on edge GPU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54680"/>
            <a:ext cx="10725912" cy="3063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60120" y="3291840"/>
          <a:ext cx="1026871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7752"/>
                <a:gridCol w="1920240"/>
                <a:gridCol w="1920240"/>
                <a:gridCol w="1920240"/>
                <a:gridCol w="192024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Diagnostic Class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Support (Test Set)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Glioma (Infiltrative Intra-axial)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98.8%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98.4%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0.986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250 scans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Meningioma (Extra-axial Dural)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98.4%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98.0%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0.982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250 scans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Pituitary Tumor (Sellar Region)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99.2%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99.6%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0.994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250 scans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No Tumor (Healthy Control)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250 scans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B6CB0"/>
                </a:solidFill>
                <a:latin typeface="Calibri"/>
              </a:defRPr>
            </a:pPr>
            <a:r>
              <a:t>SECTION 4: PROGRESS ACHIEVED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Calibri"/>
              </a:defRPr>
            </a:pPr>
            <a:r>
              <a:t>Comprehensive 6-Model Segmentation Benchmark</a:t>
            </a:r>
          </a:p>
          <a:p>
            <a:pPr>
              <a:spcBef>
                <a:spcPts val="200"/>
              </a:spcBef>
              <a:defRPr sz="1050">
                <a:solidFill>
                  <a:srgbClr val="718096"/>
                </a:solidFill>
                <a:latin typeface="Calibri"/>
              </a:defRPr>
            </a:pPr>
            <a:r>
              <a:t>Evaluated across 860 Unseen Brain MRI Test Scans (BRISC 2025 Benchmark)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Calibri"/>
              </a:defRPr>
            </a:pPr>
            <a:r>
              <a:t>NIT Kurukshetra • Department of Computer Engineering • B.Tech Project Work (CSPC401 &amp; ITPC401)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718096"/>
                </a:solidFill>
                <a:latin typeface="Calibri"/>
              </a:defRPr>
            </a:pPr>
            <a:r>
              <a:t>10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68580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691640"/>
          <a:ext cx="6583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05840"/>
                <a:gridCol w="1005840"/>
                <a:gridCol w="1005840"/>
                <a:gridCol w="1188720"/>
              </a:tblGrid>
              <a:tr h="61395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Dice Score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IoU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Performance Rank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Pretrained ResNet-34 U-Net++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23.67 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87.78%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81.11%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★ SOTA Top Performer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Scratch U-Net++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9.16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87.14%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80.18%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Rank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Attention U-Net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7.98 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86.96%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79.93%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Rank 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Standard Baseline U-Net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7.85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86.84%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~79.60%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Baseline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SaberNet (Spatial Relations)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8.38 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86.66%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79.70%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Rank 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GeoSample U-Net (Probes)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17.72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86.46%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~79.20%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Rank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0" y="1554480"/>
            <a:ext cx="3685032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91640"/>
            <a:ext cx="3410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365D"/>
                </a:solidFill>
                <a:latin typeface="Calibri"/>
              </a:defRPr>
            </a:pPr>
            <a:r>
              <a:t>QUALITATIVE VERIFICATION</a:t>
            </a:r>
          </a:p>
        </p:txBody>
      </p:sp>
      <p:pic>
        <p:nvPicPr>
          <p:cNvPr id="11" name="Picture 10" descr="seg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2194560"/>
            <a:ext cx="3410712" cy="12284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09560" y="3794760"/>
            <a:ext cx="34107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A365D"/>
                </a:solidFill>
                <a:latin typeface="Calibri"/>
              </a:defRPr>
            </a:pPr>
            <a:r>
              <a:t>Qualitative Clinical Observations:</a:t>
            </a:r>
          </a:p>
          <a:p>
            <a:pPr>
              <a:spcAft>
                <a:spcPts val="300"/>
              </a:spcAft>
              <a:defRPr sz="8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Boundary Conformance: </a:t>
            </a:r>
            <a:r>
              <a:rPr b="0">
                <a:solidFill>
                  <a:srgbClr val="2D3748"/>
                </a:solidFill>
              </a:rPr>
              <a:t>Pretrained ResNet-34 U-Net++ captures fine infiltrative dural edges without false-positive leakage into ventricles.</a:t>
            </a:r>
          </a:p>
          <a:p>
            <a:pPr>
              <a:spcAft>
                <a:spcPts val="0"/>
              </a:spcAft>
              <a:defRPr sz="8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Nested Skips: </a:t>
            </a:r>
            <a:r>
              <a:rPr b="0">
                <a:solidFill>
                  <a:srgbClr val="2D3748"/>
                </a:solidFill>
              </a:rPr>
              <a:t>Dramatically reduces false negatives along irregular margin gradients compared to baseline U-Net.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B6CB0"/>
                </a:solidFill>
                <a:latin typeface="Calibri"/>
              </a:defRPr>
            </a:pPr>
            <a:r>
              <a:t>SECTION 4: PROGRESS ACHIEVED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Calibri"/>
              </a:defRPr>
            </a:pPr>
            <a:r>
              <a:t>In-Depth Architectural Analysis &amp; Technical Insights</a:t>
            </a:r>
          </a:p>
          <a:p>
            <a:pPr>
              <a:spcBef>
                <a:spcPts val="200"/>
              </a:spcBef>
              <a:defRPr sz="1050">
                <a:solidFill>
                  <a:srgbClr val="718096"/>
                </a:solidFill>
                <a:latin typeface="Calibri"/>
              </a:defRPr>
            </a:pPr>
            <a:r>
              <a:t>Evaluating why specific mechanisms excelled in brain tumor semantic segmentation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Calibri"/>
              </a:defRPr>
            </a:pPr>
            <a:r>
              <a:t>NIT Kurukshetra • Department of Computer Engineering • B.Tech Project Work (CSPC401 &amp; ITPC401)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718096"/>
                </a:solidFill>
                <a:latin typeface="Calibri"/>
              </a:defRPr>
            </a:pPr>
            <a:r>
              <a:t>11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1. Pretrained ResNet-34 U-Net++ (Top Performer: 87.78% Dice)</a:t>
            </a:r>
          </a:p>
          <a:p>
            <a:pPr>
              <a:defRPr sz="950">
                <a:solidFill>
                  <a:srgbClr val="2D3748"/>
                </a:solidFill>
                <a:latin typeface="Calibri"/>
              </a:defRPr>
            </a:pPr>
            <a:r>
              <a:t>• Leveraging ImageNet pretraining endowed early layers with robust edge and gradient filters.</a:t>
            </a:r>
            <a:br/>
            <a:r>
              <a:t>• Dilated convolutions in layer4 preserved 16x16 resolution without subsampling artifacts.</a:t>
            </a:r>
            <a:br/>
            <a:r>
              <a:t>• Deep supervision at X_0,1, X_0,2, X_0,3, X_0,4 enabled smooth multi-scale gradient flow.</a:t>
            </a:r>
            <a:br/>
            <a:r>
              <a:t>• Two-speed optimization (gentle encoder_lr, fast decoder_lr) prevented catastrophic forgetting.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55448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69164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2. Scratch U-Net++ vs. Baseline U-Net (87.14% vs 86.84%)</a:t>
            </a:r>
          </a:p>
          <a:p>
            <a:pPr>
              <a:defRPr sz="950">
                <a:solidFill>
                  <a:srgbClr val="2D3748"/>
                </a:solidFill>
                <a:latin typeface="Calibri"/>
              </a:defRPr>
            </a:pPr>
            <a:r>
              <a:t>• Redesigned skip pathways bridge semantic gap between encoder/decoder stages.</a:t>
            </a:r>
            <a:br/>
            <a:r>
              <a:t>• Receptive fields of varying sizes are aggregated at decoder nodes via dense concatenation.</a:t>
            </a:r>
            <a:br/>
            <a:r>
              <a:t>• Conclusively proves dense nested skip architecture outperforms standard long skips by +0.30% Dice even from scratch.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799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3. Attention U-Net &amp; SaberNet (86.96% &amp; 86.66% Dice)</a:t>
            </a:r>
          </a:p>
          <a:p>
            <a:pPr>
              <a:defRPr sz="950">
                <a:solidFill>
                  <a:srgbClr val="2D3748"/>
                </a:solidFill>
                <a:latin typeface="Calibri"/>
              </a:defRPr>
            </a:pPr>
            <a:r>
              <a:t>• Attention U-Net: Additive attention gates suppressed non-tumor brain tissue effectively with minimal parameter overhead (+0.13M params).</a:t>
            </a:r>
            <a:br/>
            <a:r>
              <a:t>• SaberNet: Global relation matrices captured whole-slice context but suffered slightly on fine sub-millimeter edge contours due to quadratic spatial pooling.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3977639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4114799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4. GeoSample U-Net &amp; High-Resolution (512x512) Exploration</a:t>
            </a:r>
          </a:p>
          <a:p>
            <a:pPr>
              <a:defRPr sz="950">
                <a:solidFill>
                  <a:srgbClr val="2D3748"/>
                </a:solidFill>
                <a:latin typeface="Calibri"/>
              </a:defRPr>
            </a:pPr>
            <a:r>
              <a:t>• GeoSample: Directional boundary probes achieved competitive 86.46% Dice using novel differential tokens (gradient, curvature).</a:t>
            </a:r>
            <a:br/>
            <a:r>
              <a:t>• 512x512 High-Res: Integrated gradient accumulation to enable memory-efficient training on RTX 2050 without out-of-memory errors.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B6CB0"/>
                </a:solidFill>
                <a:latin typeface="Calibri"/>
              </a:defRPr>
            </a:pPr>
            <a:r>
              <a:t>SECTION 4: PROGRESS ACHIEVED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Calibri"/>
              </a:defRPr>
            </a:pPr>
            <a:r>
              <a:t>Interactive Clinician Decision-Support Interface</a:t>
            </a:r>
          </a:p>
          <a:p>
            <a:pPr>
              <a:spcBef>
                <a:spcPts val="200"/>
              </a:spcBef>
              <a:defRPr sz="1050">
                <a:solidFill>
                  <a:srgbClr val="718096"/>
                </a:solidFill>
                <a:latin typeface="Calibri"/>
              </a:defRPr>
            </a:pPr>
            <a:r>
              <a:t>Streamlit Web Application (`ui/app.py`) for Real-Time MRI Inference &amp; Inspection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Calibri"/>
              </a:defRPr>
            </a:pPr>
            <a:r>
              <a:t>NIT Kurukshetra • Department of Computer Engineering • B.Tech Project Work (CSPC401 &amp; ITPC401)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718096"/>
                </a:solidFill>
                <a:latin typeface="Calibri"/>
              </a:defRPr>
            </a:pPr>
            <a:r>
              <a:t>12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A365D"/>
                </a:solidFill>
                <a:latin typeface="Calibri"/>
              </a:defRPr>
            </a:pPr>
            <a:r>
              <a:t>FRONTEND WORKFLOW &amp; CLINICAL CAPABILITIES</a:t>
            </a:r>
          </a:p>
          <a:p>
            <a:pPr>
              <a:spcAft>
                <a:spcPts val="5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Instant Scan Ingestion: </a:t>
            </a:r>
            <a:r>
              <a:rPr b="0">
                <a:solidFill>
                  <a:srgbClr val="2D3748"/>
                </a:solidFill>
              </a:rPr>
              <a:t>Supports direct upload of 2D axial MRI slices (PNG, JPG, DICOM) with instant preprocessing and intensity validation.</a:t>
            </a:r>
          </a:p>
          <a:p>
            <a:pPr>
              <a:spcAft>
                <a:spcPts val="5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Contour &amp; Mask Overlay: </a:t>
            </a:r>
            <a:r>
              <a:rPr b="0">
                <a:solidFill>
                  <a:srgbClr val="2D3748"/>
                </a:solidFill>
              </a:rPr>
              <a:t>Interactive alpha-blended visualization displaying exact tumor boundaries over anatomical brain tissue.</a:t>
            </a:r>
          </a:p>
          <a:p>
            <a:pPr>
              <a:spcAft>
                <a:spcPts val="5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Clinical KPI Scorecards: </a:t>
            </a:r>
            <a:r>
              <a:rPr b="0">
                <a:solidFill>
                  <a:srgbClr val="2D3748"/>
                </a:solidFill>
              </a:rPr>
              <a:t>Real-time cards presenting:
  • Predicted Diagnosis (Glioma / Meningioma / Pituitary / Normal)
  • Classification Confidence (%)
  • Lesion Sizing (Total pixel area &amp; mm²)
  • Tumor Presence Binary Flag</a:t>
            </a:r>
          </a:p>
          <a:p>
            <a:pPr>
              <a:spcAft>
                <a:spcPts val="5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Probabilistic Distribution: </a:t>
            </a:r>
            <a:r>
              <a:rPr b="0">
                <a:solidFill>
                  <a:srgbClr val="2D3748"/>
                </a:solidFill>
              </a:rPr>
              <a:t>Interactive probability bar charts displaying confidence across all 4 candidate diagnostic categories.</a:t>
            </a:r>
          </a:p>
          <a:p>
            <a:pPr>
              <a:spcAft>
                <a:spcPts val="5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Radiologist Review Readiness: </a:t>
            </a:r>
            <a:r>
              <a:rPr b="0">
                <a:solidFill>
                  <a:srgbClr val="2D3748"/>
                </a:solidFill>
              </a:rPr>
              <a:t>Designed with clean clinical typography and safety disclaimers for research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55448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6916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A365D"/>
                </a:solidFill>
                <a:latin typeface="Calibri"/>
              </a:defRPr>
            </a:pPr>
            <a:r>
              <a:t>BACKEND PIPELINE INTEGRATION (`pipeline.py`)</a:t>
            </a:r>
          </a:p>
          <a:p>
            <a:pPr>
              <a:spcAft>
                <a:spcPts val="5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Shared State Data Class (`MedBoardState`): </a:t>
            </a:r>
            <a:r>
              <a:rPr b="0">
                <a:solidFill>
                  <a:srgbClr val="2D3748"/>
                </a:solidFill>
              </a:rPr>
              <a:t>Implements unified state container with dictionary-like access, designed for seamless LangGraph agent migration.</a:t>
            </a:r>
          </a:p>
          <a:p>
            <a:pPr>
              <a:spcAft>
                <a:spcPts val="5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Singleton Agent Caching: </a:t>
            </a:r>
            <a:r>
              <a:rPr b="0">
                <a:solidFill>
                  <a:srgbClr val="2D3748"/>
                </a:solidFill>
              </a:rPr>
              <a:t>Models stay preloaded in GPU VRAM (`_seg_agent`, `_clf_agent`), eliminating reload latency across inferences.</a:t>
            </a:r>
          </a:p>
          <a:p>
            <a:pPr>
              <a:spcAft>
                <a:spcPts val="5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Dual-Resolution Pipeline: </a:t>
            </a:r>
            <a:r>
              <a:rPr b="0">
                <a:solidFill>
                  <a:srgbClr val="2D3748"/>
                </a:solidFill>
              </a:rPr>
              <a:t>Feeds 224x224 tensor to classification agent and 256x256 tensor to segmentation agent from a single raw upload.</a:t>
            </a:r>
          </a:p>
          <a:p>
            <a:pPr>
              <a:spcAft>
                <a:spcPts val="5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Safety &amp; Exception Logging: </a:t>
            </a:r>
            <a:r>
              <a:rPr b="0">
                <a:solidFill>
                  <a:srgbClr val="2D3748"/>
                </a:solidFill>
              </a:rPr>
              <a:t>Catches corrupted slices, low-contrast inputs, or extreme aspect ratios with graceful clinician alerts.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B6CB0"/>
                </a:solidFill>
                <a:latin typeface="Calibri"/>
              </a:defRPr>
            </a:pPr>
            <a:r>
              <a:t>SECTION 5: WORK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Calibri"/>
              </a:defRPr>
            </a:pPr>
            <a:r>
              <a:t>Project Milestone Status &amp; Completion Matrix</a:t>
            </a:r>
          </a:p>
          <a:p>
            <a:pPr>
              <a:spcBef>
                <a:spcPts val="200"/>
              </a:spcBef>
              <a:defRPr sz="1050">
                <a:solidFill>
                  <a:srgbClr val="718096"/>
                </a:solidFill>
                <a:latin typeface="Calibri"/>
              </a:defRPr>
            </a:pPr>
            <a:r>
              <a:t>Audit of completed technical milestones against semester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Calibri"/>
              </a:defRPr>
            </a:pPr>
            <a:r>
              <a:t>NIT Kurukshetra • Department of Computer Engineering • B.Tech Project Work (CSPC401 &amp; ITPC401)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718096"/>
                </a:solidFill>
                <a:latin typeface="Calibri"/>
              </a:defRPr>
            </a:pPr>
            <a:r>
              <a:t>13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725912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60120" y="1691640"/>
          <a:ext cx="10268712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112"/>
                <a:gridCol w="4389120"/>
                <a:gridCol w="2011680"/>
                <a:gridCol w="1828800"/>
              </a:tblGrid>
              <a:tr h="477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Technical Scope &amp; Deliverables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Technology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Status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Phase 0: Setup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Repository architecture, virtual env, CUDA 12.4 configuration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PyTorch / Conda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Phase 1: Preprocessing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Validation, CLAHE normalization, dual-size transforms, dataloaders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OpenCV / Torchvision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Phase 2: Segmentation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Benchmark 6 architectures; train ResNet-34 U-Net++ (87.78% Dice)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PyTorch / CUDA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Phase 3: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Transfer learning with EfficientNet-B0 (99.00% Test Accuracy)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timm / PyTorch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Phase 4: Feature Extraction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Morphological biomarkers (area, perimeter, centroid, intensity)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scikit-image / NumPy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B6CB0"/>
                          </a:solidFill>
                          <a:latin typeface="Calibri"/>
                        </a:defRPr>
                      </a:pPr>
                      <a:r>
                        <a:t>Active (70%)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Phase 5: Evidence (RAG)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Vector store construction, guideline embeddings &amp;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ChromaDB / all-MiniLM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B6CB0"/>
                          </a:solidFill>
                          <a:latin typeface="Calibri"/>
                        </a:defRPr>
                      </a:pPr>
                      <a:r>
                        <a:t>Scheduled (Nov)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Phase 6: Chief Synthesis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Structured clinical radiology reporting agent with guardrails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Gemini 2.0 Flash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B6CB0"/>
                          </a:solidFill>
                          <a:latin typeface="Calibri"/>
                        </a:defRPr>
                      </a:pPr>
                      <a:r>
                        <a:t>Scheduled (Nov/Dec)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Phase 7: Full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LangGraph multi-agent loop, latency profiling, final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LangGraph / Streamlit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B6CB0"/>
                          </a:solidFill>
                          <a:latin typeface="Calibri"/>
                        </a:defRPr>
                      </a:pPr>
                      <a:r>
                        <a:t>Scheduled (Dec)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B6CB0"/>
                </a:solidFill>
                <a:latin typeface="Calibri"/>
              </a:defRPr>
            </a:pPr>
            <a:r>
              <a:t>SECTION 5: FUTURE WORK &amp;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Calibri"/>
              </a:defRPr>
            </a:pPr>
            <a:r>
              <a:t>Semester Timeline &amp; Architecture Roadmap</a:t>
            </a:r>
          </a:p>
          <a:p>
            <a:pPr>
              <a:spcBef>
                <a:spcPts val="200"/>
              </a:spcBef>
              <a:defRPr sz="1050">
                <a:solidFill>
                  <a:srgbClr val="718096"/>
                </a:solidFill>
                <a:latin typeface="Calibri"/>
              </a:defRPr>
            </a:pPr>
            <a:r>
              <a:t>Structured schedule for the remainder of B.Tech Project Work (Odd Semester)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Calibri"/>
              </a:defRPr>
            </a:pPr>
            <a:r>
              <a:t>NIT Kurukshetra • Department of Computer Engineering • B.Tech Project Work (CSPC401 &amp; ITPC401)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718096"/>
                </a:solidFill>
                <a:latin typeface="Calibri"/>
              </a:defRPr>
            </a:pPr>
            <a:r>
              <a:t>14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542032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2542032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WEEKS 8–9 (LATE OCT)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29968"/>
            <a:ext cx="2176272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Feature Extraction &amp; Morphometrics</a:t>
            </a:r>
          </a:p>
          <a:p>
            <a:pPr>
              <a:defRPr sz="950">
                <a:solidFill>
                  <a:srgbClr val="2D3748"/>
                </a:solidFill>
                <a:latin typeface="Calibri"/>
              </a:defRPr>
            </a:pPr>
            <a:r>
              <a:t>• Finalize 2D contour geometry calculations (lesion area, perimeter, circularity, centroid).</a:t>
            </a:r>
            <a:br/>
            <a:r>
              <a:t>• Extract tumor-to-brain volume fraction and spatial localization relative to anatomical midline.</a:t>
            </a:r>
            <a:br/>
            <a:r>
              <a:t>• Deliverable: Fully verified `feature_extraction_agent.py` integrated into pipeline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554480"/>
            <a:ext cx="2542032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554480"/>
            <a:ext cx="2542032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WEEKS 10–11 (MID NOV)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029968"/>
            <a:ext cx="2176272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RAG Medical Knowledge Base</a:t>
            </a:r>
          </a:p>
          <a:p>
            <a:pPr>
              <a:defRPr sz="950">
                <a:solidFill>
                  <a:srgbClr val="2D3748"/>
                </a:solidFill>
                <a:latin typeface="Calibri"/>
              </a:defRPr>
            </a:pPr>
            <a:r>
              <a:t>• Ingest WHO CNS5 neuro-oncology diagnostic criteria &amp; clinical radiology practice guidelines into ChromaDB.</a:t>
            </a:r>
            <a:br/>
            <a:r>
              <a:t>• Implement `all-MiniLM-L6-v2` dense vector semantic search for guideline matching.</a:t>
            </a:r>
            <a:br/>
            <a:r>
              <a:t>• Deliverable: Autonomous `evidence_agent.py` returning top-3 grounded clinical references.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554480"/>
            <a:ext cx="2542032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554480"/>
            <a:ext cx="2542032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WEEKS 12–13 (LATE NOV)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029968"/>
            <a:ext cx="2176272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Chief Synthesis Agent (Gemini LLM)</a:t>
            </a:r>
          </a:p>
          <a:p>
            <a:pPr>
              <a:defRPr sz="950">
                <a:solidFill>
                  <a:srgbClr val="2D3748"/>
                </a:solidFill>
                <a:latin typeface="Calibri"/>
              </a:defRPr>
            </a:pPr>
            <a:r>
              <a:t>• Integrate Gemini 2.0 Flash via API with structured clinical prompt templates.</a:t>
            </a:r>
            <a:br/>
            <a:r>
              <a:t>• Synthesize classifications, segmentation masks, and guideline evidence into formal draft radiology reports.</a:t>
            </a:r>
            <a:br/>
            <a:r>
              <a:t>• Deliverable: Automated structured diagnostic report generation with academic safety disclaimers.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554480"/>
            <a:ext cx="2542032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06256" y="1554480"/>
            <a:ext cx="2542032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WEEKS 14–15 (DECEMBER)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2029968"/>
            <a:ext cx="2176272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System Integration &amp; Final Evaluation</a:t>
            </a:r>
          </a:p>
          <a:p>
            <a:pPr>
              <a:defRPr sz="950">
                <a:solidFill>
                  <a:srgbClr val="2D3748"/>
                </a:solidFill>
                <a:latin typeface="Calibri"/>
              </a:defRPr>
            </a:pPr>
            <a:r>
              <a:t>• Migrate pipeline to LangGraph autonomous multi-agent state graph with human-in-the-loop review.</a:t>
            </a:r>
            <a:br/>
            <a:r>
              <a:t>• Comprehensive latency profiling, stress testing on challenging edge cases, and UI polishing.</a:t>
            </a:r>
            <a:br/>
            <a:r>
              <a:t>• Deliverable: End-Semester project presentation and comprehensive B.Tech project thesis.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B6CB0"/>
                </a:solidFill>
                <a:latin typeface="Calibri"/>
              </a:defRPr>
            </a:pPr>
            <a:r>
              <a:t>SUMMARY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Calibri"/>
              </a:defRPr>
            </a:pPr>
            <a:r>
              <a:t>Mid-Semester Milestones &amp; Key Scientific Takeaways</a:t>
            </a:r>
          </a:p>
          <a:p>
            <a:pPr>
              <a:spcBef>
                <a:spcPts val="200"/>
              </a:spcBef>
              <a:defRPr sz="1050">
                <a:solidFill>
                  <a:srgbClr val="718096"/>
                </a:solidFill>
                <a:latin typeface="Calibri"/>
              </a:defRPr>
            </a:pPr>
            <a:r>
              <a:t>Recap of verified experimental results and readiness for final multi-agent synthesis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Calibri"/>
              </a:defRPr>
            </a:pPr>
            <a:r>
              <a:t>NIT Kurukshetra • Department of Computer Engineering • B.Tech Project Work (CSPC401 &amp; ITPC401)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718096"/>
                </a:solidFill>
                <a:latin typeface="Calibri"/>
              </a:defRPr>
            </a:pPr>
            <a:r>
              <a:t>15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725912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73152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1. High-Accuracy Classification Verified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Successfully achieved 99.00% test accuracy and 0.9899 Macro-F1 with EfficientNet-B0 across 1,000 unseen BRISC 2025 brain MRI scans with &lt;15 ms latency, proving transfer learning efficacy for 4-class intracranial neoplasm triage.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10725912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743200"/>
            <a:ext cx="73152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8346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2. Empirical Proof of Nested Skips in Segmentation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Completed rigorous benchmark of 6 segmentation paradigms across 860 test scans. Pretrained ResNet-34 U-Net++ established new performance benchmark at 87.78% Dice Score (81.11% Mean IoU), outperforming standard U-Net baseline.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725912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73152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023359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3. Interactive Clinical Decision-Support Ready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Built a functional Streamlit interface (`ui/app.py`) providing immediate real-time tumor contour overlays, multi-class probability graphs, and key quantitative diagnostic metrics for radiologist inspection.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20640"/>
            <a:ext cx="10725912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120640"/>
            <a:ext cx="73152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212079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4. Strong Technical Foundation for Agentic Reasoning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The modular architecture (`pipeline.py`, `MedBoardState`) is fully primed for upcoming RAG vector store integration (ChromaDB) and generative clinical reporting (Gemini 2.0 Flash) in the second half of the semester.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457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defRPr sz="1900">
                <a:solidFill>
                  <a:srgbClr val="BFDBFE"/>
                </a:solidFill>
                <a:latin typeface="Calibri"/>
              </a:defRPr>
            </a:pPr>
            <a:r>
              <a:t>Questions, Feedback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3200400"/>
            <a:ext cx="8897112" cy="3017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383280"/>
            <a:ext cx="834847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MedBoard: Multi-Agent Brain MRI Analysis &amp; Automated Reporting System</a:t>
            </a:r>
          </a:p>
          <a:p>
            <a:pPr algn="ctr">
              <a:spcAft>
                <a:spcPts val="800"/>
              </a:spcAft>
              <a:defRPr sz="1100" b="1">
                <a:solidFill>
                  <a:srgbClr val="2B6CB0"/>
                </a:solidFill>
                <a:latin typeface="Calibri"/>
              </a:defRPr>
            </a:pPr>
            <a:r>
              <a:t>Project Team: Pragya Thakur (123102162) • Shivanshu Sajwan (123102193) • Digvijay Singh (123102198)</a:t>
            </a:r>
          </a:p>
          <a:p>
            <a:pPr algn="ctr">
              <a:spcAft>
                <a:spcPts val="800"/>
              </a:spcAft>
              <a:defRPr sz="1050">
                <a:solidFill>
                  <a:srgbClr val="2D3748"/>
                </a:solidFill>
                <a:latin typeface="Calibri"/>
              </a:defRPr>
            </a:pPr>
            <a:r>
              <a:t>Project Coordinator / Mentor: Dr. Vishwas Rathi</a:t>
            </a:r>
            <a:br/>
            <a:r>
              <a:t>Evaluation Committee: Dr. Niyati Baliyan &amp; Dr. Vijay Kumar Sharma</a:t>
            </a:r>
          </a:p>
          <a:p>
            <a:pPr algn="ctr">
              <a:defRPr sz="1000" i="1">
                <a:solidFill>
                  <a:srgbClr val="718096"/>
                </a:solidFill>
                <a:latin typeface="Calibri"/>
              </a:defRPr>
            </a:pPr>
            <a:r>
              <a:t>Department of Computer Engineering • National Institute of Technology Kurukshetra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