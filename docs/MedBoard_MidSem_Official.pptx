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2E8F0"/>
                </a:solidFill>
                <a:latin typeface="Calibri"/>
              </a:defRPr>
            </a:pPr>
            <a:r>
              <a:t>NATIONAL INSTITUTE OF TECHNOLOGY KURUKSHETRA</a:t>
            </a:r>
          </a:p>
          <a:p>
            <a:pPr>
              <a:spcBef>
                <a:spcPts val="200"/>
              </a:spcBef>
              <a:defRPr sz="1050">
                <a:solidFill>
                  <a:srgbClr val="CBD5E1"/>
                </a:solidFill>
                <a:latin typeface="Calibri"/>
              </a:defRPr>
            </a:pPr>
            <a:r>
              <a:t>DEPARTMENT OF COMPUTER ENGINEERING • AY: 2026-27 (ODD SEMESTER)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43000"/>
            <a:ext cx="10515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500" b="1">
                <a:solidFill>
                  <a:srgbClr val="FFFFFF"/>
                </a:solidFill>
                <a:latin typeface="Calibri"/>
              </a:defRPr>
            </a:pPr>
            <a:r>
              <a:t>MedBoard: Brain MRI Segmentation and Classification System</a:t>
            </a:r>
          </a:p>
          <a:p>
            <a:pPr>
              <a:defRPr sz="1300">
                <a:solidFill>
                  <a:srgbClr val="BFDBFE"/>
                </a:solidFill>
                <a:latin typeface="Calibri"/>
              </a:defRPr>
            </a:pPr>
            <a:r>
              <a:t>Mid-Semester Project Evaluation • Course: CSPC401 &amp; ITPC401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246120"/>
            <a:ext cx="5120640" cy="2971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3383280"/>
            <a:ext cx="4663440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1A365D"/>
                </a:solidFill>
                <a:latin typeface="Calibri"/>
              </a:defRPr>
            </a:pPr>
            <a:r>
              <a:t>PROJECT TEAM MEMBERS</a:t>
            </a:r>
          </a:p>
          <a:p>
            <a:pPr>
              <a:spcAft>
                <a:spcPts val="600"/>
              </a:spcAft>
            </a:pPr>
            <a:r>
              <a:rPr b="1" sz="1150">
                <a:solidFill>
                  <a:srgbClr val="1A365D"/>
                </a:solidFill>
              </a:rPr>
              <a:t>•  Pragya Thakur </a:t>
            </a:r>
            <a:r>
              <a:rPr sz="950">
                <a:solidFill>
                  <a:srgbClr val="718096"/>
                </a:solidFill>
              </a:rPr>
              <a:t>(123102162)
   B.Tech Computer Engineering</a:t>
            </a:r>
          </a:p>
          <a:p>
            <a:pPr>
              <a:spcAft>
                <a:spcPts val="600"/>
              </a:spcAft>
            </a:pPr>
            <a:r>
              <a:rPr b="1" sz="1150">
                <a:solidFill>
                  <a:srgbClr val="1A365D"/>
                </a:solidFill>
              </a:rPr>
              <a:t>•  Shivanshu Sajwan </a:t>
            </a:r>
            <a:r>
              <a:rPr sz="950">
                <a:solidFill>
                  <a:srgbClr val="718096"/>
                </a:solidFill>
              </a:rPr>
              <a:t>(123102193)
   B.Tech Computer Engineering</a:t>
            </a:r>
          </a:p>
          <a:p>
            <a:pPr>
              <a:spcAft>
                <a:spcPts val="600"/>
              </a:spcAft>
            </a:pPr>
            <a:r>
              <a:rPr b="1" sz="1150">
                <a:solidFill>
                  <a:srgbClr val="1A365D"/>
                </a:solidFill>
              </a:rPr>
              <a:t>•  Digvijay Singh </a:t>
            </a:r>
            <a:r>
              <a:rPr sz="950">
                <a:solidFill>
                  <a:srgbClr val="718096"/>
                </a:solidFill>
              </a:rPr>
              <a:t>(123102198)
   B.Tech Computer Engineering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3246120"/>
            <a:ext cx="5120640" cy="2971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3383280"/>
            <a:ext cx="4663440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1A365D"/>
                </a:solidFill>
                <a:latin typeface="Calibri"/>
              </a:defRPr>
            </a:pPr>
            <a:r>
              <a:t>FACULTY COORDINATOR &amp; EVALUATION COMMITTEE</a:t>
            </a:r>
          </a:p>
          <a:p>
            <a:pPr>
              <a:spcAft>
                <a:spcPts val="800"/>
              </a:spcAft>
              <a:defRPr sz="1100">
                <a:latin typeface="Calibri"/>
              </a:defRPr>
            </a:pPr>
            <a:r>
              <a:rPr b="1">
                <a:solidFill>
                  <a:srgbClr val="1A365D"/>
                </a:solidFill>
              </a:rPr>
              <a:t>Project Coordinator / Mentor: </a:t>
            </a:r>
            <a:r>
              <a:rPr b="0">
                <a:solidFill>
                  <a:srgbClr val="2D3748"/>
                </a:solidFill>
              </a:rPr>
              <a:t>Dr. Vishwas Rathi</a:t>
            </a:r>
          </a:p>
          <a:p>
            <a:pPr>
              <a:spcAft>
                <a:spcPts val="800"/>
              </a:spcAft>
              <a:defRPr sz="1100">
                <a:latin typeface="Calibri"/>
              </a:defRPr>
            </a:pPr>
            <a:r>
              <a:rPr b="1">
                <a:solidFill>
                  <a:srgbClr val="1A365D"/>
                </a:solidFill>
              </a:rPr>
              <a:t>Evaluation Committee Members: </a:t>
            </a:r>
            <a:r>
              <a:rPr b="0">
                <a:solidFill>
                  <a:srgbClr val="2D3748"/>
                </a:solidFill>
              </a:rPr>
              <a:t>Dr. Niyati Baliyan
Dr. Vijay Kumar Sharma</a:t>
            </a:r>
          </a:p>
          <a:p>
            <a:pPr>
              <a:spcAft>
                <a:spcPts val="0"/>
              </a:spcAft>
              <a:defRPr sz="1000">
                <a:latin typeface="Calibri"/>
              </a:defRPr>
            </a:pPr>
            <a:r>
              <a:rPr b="1">
                <a:solidFill>
                  <a:srgbClr val="1A365D"/>
                </a:solidFill>
              </a:rPr>
              <a:t>Project Type &amp; Scope: </a:t>
            </a:r>
            <a:r>
              <a:rPr b="0">
                <a:solidFill>
                  <a:srgbClr val="2D3748"/>
                </a:solidFill>
              </a:rPr>
              <a:t>B.Tech Major Capstone Project (CSPC401 / ITPC401)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B6CB0"/>
                </a:solidFill>
                <a:latin typeface="Calibri"/>
              </a:defRPr>
            </a:pPr>
            <a:r>
              <a:t>MID-SEMESTER EVALUATION • SECTION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725912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1A365D"/>
                </a:solidFill>
                <a:latin typeface="Calibri"/>
              </a:defRPr>
            </a:pPr>
            <a:r>
              <a:t>Problem Identification and 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5912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92240"/>
            <a:ext cx="9601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718096"/>
                </a:solidFill>
                <a:latin typeface="Calibri"/>
              </a:defRPr>
            </a:pPr>
            <a:r>
              <a:t>NIT Kurukshetra • Department of Computer Engineering • B.Tech Project (CSPC401 &amp; ITPC401)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43032" y="6492240"/>
            <a:ext cx="914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 b="1">
                <a:solidFill>
                  <a:srgbClr val="718096"/>
                </a:solidFill>
                <a:latin typeface="Calibri"/>
              </a:defRPr>
            </a:pPr>
            <a:r>
              <a:t>2 / 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5212080" cy="48920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554480"/>
            <a:ext cx="4754880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50" b="1">
                <a:solidFill>
                  <a:srgbClr val="1A365D"/>
                </a:solidFill>
                <a:latin typeface="Calibri"/>
              </a:defRPr>
            </a:pPr>
            <a:r>
              <a:t>PROBLEM IDENTIFICATION</a:t>
            </a:r>
          </a:p>
          <a:p>
            <a:pPr>
              <a:spcAft>
                <a:spcPts val="1000"/>
              </a:spcAft>
              <a:defRPr sz="1050">
                <a:latin typeface="Calibri"/>
              </a:defRPr>
            </a:pPr>
            <a:r>
              <a:rPr b="1">
                <a:solidFill>
                  <a:srgbClr val="1A365D"/>
                </a:solidFill>
              </a:rPr>
              <a:t>Clinical Triage Burden: </a:t>
            </a:r>
            <a:r>
              <a:rPr b="0">
                <a:solidFill>
                  <a:srgbClr val="2D3748"/>
                </a:solidFill>
              </a:rPr>
              <a:t>Manual evaluation of brain MRI slices is time-consuming and subject to inter-observer variability, compounded by a global shortage of specialized neuroradiologists.</a:t>
            </a:r>
          </a:p>
          <a:p>
            <a:pPr>
              <a:spcAft>
                <a:spcPts val="1000"/>
              </a:spcAft>
              <a:defRPr sz="1050">
                <a:latin typeface="Calibri"/>
              </a:defRPr>
            </a:pPr>
            <a:r>
              <a:rPr b="1">
                <a:solidFill>
                  <a:srgbClr val="1A365D"/>
                </a:solidFill>
              </a:rPr>
              <a:t>Dual Diagnostic Challenge: </a:t>
            </a:r>
            <a:r>
              <a:rPr b="0">
                <a:solidFill>
                  <a:srgbClr val="2D3748"/>
                </a:solidFill>
              </a:rPr>
              <a:t>Clinicians require both accurate tumor type identification (Glioma, Meningioma, Pituitary, Normal) and precise anatomical boundary delineation (segmentation) for biopsy and surgical planning.</a:t>
            </a:r>
          </a:p>
          <a:p>
            <a:pPr>
              <a:spcAft>
                <a:spcPts val="1000"/>
              </a:spcAft>
              <a:defRPr sz="1050">
                <a:latin typeface="Calibri"/>
              </a:defRPr>
            </a:pPr>
            <a:r>
              <a:rPr b="1">
                <a:solidFill>
                  <a:srgbClr val="1A365D"/>
                </a:solidFill>
              </a:rPr>
              <a:t>Infiltrative &amp; Ambiguous Margins: </a:t>
            </a:r>
            <a:r>
              <a:rPr b="0">
                <a:solidFill>
                  <a:srgbClr val="2D3748"/>
                </a:solidFill>
              </a:rPr>
              <a:t>Intracranial neoplasms exhibit irregular, low-contrast boundaries against normal parenchyma, causing standard thresholding and shallow architectures to under-segment or leak into ventricles.</a:t>
            </a:r>
          </a:p>
          <a:p>
            <a:pPr>
              <a:spcAft>
                <a:spcPts val="0"/>
              </a:spcAft>
              <a:defRPr sz="1050">
                <a:latin typeface="Calibri"/>
              </a:defRPr>
            </a:pPr>
            <a:r>
              <a:rPr b="1">
                <a:solidFill>
                  <a:srgbClr val="1A365D"/>
                </a:solidFill>
              </a:rPr>
              <a:t>Fragmented Tooling: </a:t>
            </a:r>
            <a:r>
              <a:rPr b="0">
                <a:solidFill>
                  <a:srgbClr val="2D3748"/>
                </a:solidFill>
              </a:rPr>
              <a:t>Existing computer-aided diagnostic systems typically handle classification or segmentation in isolation, lacking a unified pipeline and interactive clinical interface.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5352" y="1417320"/>
            <a:ext cx="5212080" cy="48920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73952" y="1554480"/>
            <a:ext cx="4754880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50" b="1">
                <a:solidFill>
                  <a:srgbClr val="1A365D"/>
                </a:solidFill>
                <a:latin typeface="Calibri"/>
              </a:defRPr>
            </a:pPr>
            <a:r>
              <a:t>PROJECT OBJECTIVES</a:t>
            </a:r>
          </a:p>
          <a:p>
            <a:pPr>
              <a:spcAft>
                <a:spcPts val="1000"/>
              </a:spcAft>
              <a:defRPr sz="1050">
                <a:latin typeface="Calibri"/>
              </a:defRPr>
            </a:pPr>
            <a:r>
              <a:rPr b="1">
                <a:solidFill>
                  <a:srgbClr val="1A365D"/>
                </a:solidFill>
              </a:rPr>
              <a:t>1. Automated 4-Class Classification: </a:t>
            </a:r>
            <a:r>
              <a:rPr b="0">
                <a:solidFill>
                  <a:srgbClr val="2D3748"/>
                </a:solidFill>
              </a:rPr>
              <a:t>Train a lightweight, high-accuracy deep learning classifier (EfficientNet-B0) to categorize axial brain MRI slices into Glioma, Meningioma, Pituitary Tumor, or Normal (&gt;98% accuracy target).</a:t>
            </a:r>
          </a:p>
          <a:p>
            <a:pPr>
              <a:spcAft>
                <a:spcPts val="1000"/>
              </a:spcAft>
              <a:defRPr sz="1050">
                <a:latin typeface="Calibri"/>
              </a:defRPr>
            </a:pPr>
            <a:r>
              <a:rPr b="1">
                <a:solidFill>
                  <a:srgbClr val="1A365D"/>
                </a:solidFill>
              </a:rPr>
              <a:t>2. Deep Segmentation Benchmarking: </a:t>
            </a:r>
            <a:r>
              <a:rPr b="0">
                <a:solidFill>
                  <a:srgbClr val="2D3748"/>
                </a:solidFill>
              </a:rPr>
              <a:t>Implement, train, and benchmark 6 semantic segmentation architectures (Standard U-Net, Attention U-Net, Scratch U-Net++, Pretrained ResNet-34 U-Net++, SaberNet, GeoSample) on BRISC 2025.</a:t>
            </a:r>
          </a:p>
          <a:p>
            <a:pPr>
              <a:spcAft>
                <a:spcPts val="1000"/>
              </a:spcAft>
              <a:defRPr sz="1050">
                <a:latin typeface="Calibri"/>
              </a:defRPr>
            </a:pPr>
            <a:r>
              <a:rPr b="1">
                <a:solidFill>
                  <a:srgbClr val="1A365D"/>
                </a:solidFill>
              </a:rPr>
              <a:t>3. Morphological Feature Extraction: </a:t>
            </a:r>
            <a:r>
              <a:rPr b="0">
                <a:solidFill>
                  <a:srgbClr val="2D3748"/>
                </a:solidFill>
              </a:rPr>
              <a:t>Compute automated quantitative lesion metrics including tumor surface area (mm² and pixel count), perimeter, circularity, and spatial centroid.</a:t>
            </a:r>
          </a:p>
          <a:p>
            <a:pPr>
              <a:spcAft>
                <a:spcPts val="0"/>
              </a:spcAft>
              <a:defRPr sz="1050">
                <a:latin typeface="Calibri"/>
              </a:defRPr>
            </a:pPr>
            <a:r>
              <a:rPr b="1">
                <a:solidFill>
                  <a:srgbClr val="1A365D"/>
                </a:solidFill>
              </a:rPr>
              <a:t>4. Interactive Clinician Dashboard: </a:t>
            </a:r>
            <a:r>
              <a:rPr b="0">
                <a:solidFill>
                  <a:srgbClr val="2D3748"/>
                </a:solidFill>
              </a:rPr>
              <a:t>Deploy an intuitive Streamlit interface allowing real-time MRI upload, instant mask overlay, class probability distribution visualization, and diagnostic review.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B6CB0"/>
                </a:solidFill>
                <a:latin typeface="Calibri"/>
              </a:defRPr>
            </a:pPr>
            <a:r>
              <a:t>MID-SEMESTER EVALUATION • SECTION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725912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1A365D"/>
                </a:solidFill>
                <a:latin typeface="Calibri"/>
              </a:defRPr>
            </a:pPr>
            <a:r>
              <a:t>Literature Review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5912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92240"/>
            <a:ext cx="9601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718096"/>
                </a:solidFill>
                <a:latin typeface="Calibri"/>
              </a:defRPr>
            </a:pPr>
            <a:r>
              <a:t>NIT Kurukshetra • Department of Computer Engineering • B.Tech Project (CSPC401 &amp; ITPC401)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43032" y="6492240"/>
            <a:ext cx="914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 b="1">
                <a:solidFill>
                  <a:srgbClr val="718096"/>
                </a:solidFill>
                <a:latin typeface="Calibri"/>
              </a:defRPr>
            </a:pPr>
            <a:r>
              <a:t>3 / 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3429000" cy="2286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27048"/>
            <a:ext cx="3063240" cy="2066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A365D"/>
                </a:solidFill>
                <a:latin typeface="Calibri"/>
              </a:defRPr>
            </a:pPr>
            <a:r>
              <a:t>U-Net: Convolutional Networks for Biomedical Image Segmentation</a:t>
            </a:r>
          </a:p>
          <a:p>
            <a:pPr>
              <a:spcAft>
                <a:spcPts val="400"/>
              </a:spcAft>
              <a:defRPr sz="900" i="1">
                <a:solidFill>
                  <a:srgbClr val="2B6CB0"/>
                </a:solidFill>
                <a:latin typeface="Calibri"/>
              </a:defRPr>
            </a:pPr>
            <a:r>
              <a:t>Ronneberger, Fischer, &amp; Brox (MICCAI 2015)</a:t>
            </a:r>
          </a:p>
          <a:p>
            <a:pPr>
              <a:defRPr sz="900">
                <a:solidFill>
                  <a:srgbClr val="2D3748"/>
                </a:solidFill>
                <a:latin typeface="Calibri"/>
              </a:defRPr>
            </a:pPr>
            <a:r>
              <a:t>• Symmetric contracting (encoder) and expanding (decoder) paths connected via long skip connections.</a:t>
            </a:r>
            <a:br/>
            <a:r>
              <a:t>• Preserves spatial context across downsampling, serving as the foundational benchmark for medical image segmentation.</a:t>
            </a:r>
            <a:br/>
            <a:r>
              <a:t>• Limitation: Large semantic gap between early encoder features and deep decoder features.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0832" y="1417320"/>
            <a:ext cx="3429000" cy="2286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53712" y="1527048"/>
            <a:ext cx="3063240" cy="2066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A365D"/>
                </a:solidFill>
                <a:latin typeface="Calibri"/>
              </a:defRPr>
            </a:pPr>
            <a:r>
              <a:t>UNet++: A Nested U-Net Architecture for Medical Image Segmentation</a:t>
            </a:r>
          </a:p>
          <a:p>
            <a:pPr>
              <a:spcAft>
                <a:spcPts val="400"/>
              </a:spcAft>
              <a:defRPr sz="900" i="1">
                <a:solidFill>
                  <a:srgbClr val="2B6CB0"/>
                </a:solidFill>
                <a:latin typeface="Calibri"/>
              </a:defRPr>
            </a:pPr>
            <a:r>
              <a:t>Zhou, Siddiquee, Tajbakhsh, &amp; Liang (IEEE TMI 2018)</a:t>
            </a:r>
          </a:p>
          <a:p>
            <a:pPr>
              <a:defRPr sz="900">
                <a:solidFill>
                  <a:srgbClr val="2D3748"/>
                </a:solidFill>
                <a:latin typeface="Calibri"/>
              </a:defRPr>
            </a:pPr>
            <a:r>
              <a:t>• Redesigns skip pathways using dense, nested convolutional blocks connecting encoder and decoder feature maps.</a:t>
            </a:r>
            <a:br/>
            <a:r>
              <a:t>• Accumulates multi-scale receptive fields at decoder nodes and incorporates deep supervision loss heads.</a:t>
            </a:r>
            <a:br/>
            <a:r>
              <a:t>• Significance: Demonstrated substantial gains on boundary-sensitive medical segmentation tasks.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1417320"/>
            <a:ext cx="3429000" cy="2286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83880" y="1527048"/>
            <a:ext cx="3063240" cy="2066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A365D"/>
                </a:solidFill>
                <a:latin typeface="Calibri"/>
              </a:defRPr>
            </a:pPr>
            <a:r>
              <a:t>Attention U-Net: Learning Where to Look for the Pancreas</a:t>
            </a:r>
          </a:p>
          <a:p>
            <a:pPr>
              <a:spcAft>
                <a:spcPts val="400"/>
              </a:spcAft>
              <a:defRPr sz="900" i="1">
                <a:solidFill>
                  <a:srgbClr val="2B6CB0"/>
                </a:solidFill>
                <a:latin typeface="Calibri"/>
              </a:defRPr>
            </a:pPr>
            <a:r>
              <a:t>Oktay et al. (MIDL / arXiv 2018)</a:t>
            </a:r>
          </a:p>
          <a:p>
            <a:pPr>
              <a:defRPr sz="900">
                <a:solidFill>
                  <a:srgbClr val="2D3748"/>
                </a:solidFill>
                <a:latin typeface="Calibri"/>
              </a:defRPr>
            </a:pPr>
            <a:r>
              <a:t>• Proposes additive attention gates in skip connections conditioned on decoder gating signals.</a:t>
            </a:r>
            <a:br/>
            <a:r>
              <a:t>• Automatically suppresses task-irrelevant background regions while highlighting salient lesion features with minimal parameter overhead.</a:t>
            </a:r>
            <a:br/>
            <a:r>
              <a:t>• Significance: Improves sensitivity to small target structures without extra computational complexity.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931920"/>
            <a:ext cx="3429000" cy="2377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041648"/>
            <a:ext cx="3063240" cy="2157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A365D"/>
                </a:solidFill>
                <a:latin typeface="Calibri"/>
              </a:defRPr>
            </a:pPr>
            <a:r>
              <a:t>EfficientNet: Rethinking Model Scaling for Convolutional Neural Networks</a:t>
            </a:r>
          </a:p>
          <a:p>
            <a:pPr>
              <a:spcAft>
                <a:spcPts val="400"/>
              </a:spcAft>
              <a:defRPr sz="900" i="1">
                <a:solidFill>
                  <a:srgbClr val="2B6CB0"/>
                </a:solidFill>
                <a:latin typeface="Calibri"/>
              </a:defRPr>
            </a:pPr>
            <a:r>
              <a:t>Tan &amp; Le (ICML 2019)</a:t>
            </a:r>
          </a:p>
          <a:p>
            <a:pPr>
              <a:defRPr sz="900">
                <a:solidFill>
                  <a:srgbClr val="2D3748"/>
                </a:solidFill>
                <a:latin typeface="Calibri"/>
              </a:defRPr>
            </a:pPr>
            <a:r>
              <a:t>• Establishes compound scaling, systematically balancing network depth, width, and input image resolution.</a:t>
            </a:r>
            <a:br/>
            <a:r>
              <a:t>• EfficientNet-B0 provides competitive ImageNet top-1 accuracy with only 4.01M parameters.</a:t>
            </a:r>
            <a:br/>
            <a:r>
              <a:t>• Significance: Ideal candidate for real-time clinical triage, preventing overfitting on moderate medical datasets.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70832" y="3931920"/>
            <a:ext cx="3429000" cy="2377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53712" y="4041648"/>
            <a:ext cx="3063240" cy="2157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A365D"/>
                </a:solidFill>
                <a:latin typeface="Calibri"/>
              </a:defRPr>
            </a:pPr>
            <a:r>
              <a:t>SaberNet: Self-Attention Based Effective Relation Network</a:t>
            </a:r>
          </a:p>
          <a:p>
            <a:pPr>
              <a:spcAft>
                <a:spcPts val="400"/>
              </a:spcAft>
              <a:defRPr sz="900" i="1">
                <a:solidFill>
                  <a:srgbClr val="2B6CB0"/>
                </a:solidFill>
                <a:latin typeface="Calibri"/>
              </a:defRPr>
            </a:pPr>
            <a:r>
              <a:t>Pattern Recognition (2023)</a:t>
            </a:r>
          </a:p>
          <a:p>
            <a:pPr>
              <a:defRPr sz="900">
                <a:solidFill>
                  <a:srgbClr val="2D3748"/>
                </a:solidFill>
                <a:latin typeface="Calibri"/>
              </a:defRPr>
            </a:pPr>
            <a:r>
              <a:t>• Formulates spatial relation matrices (Q·K^T / √d) to capture global pairwise pixel dependencies across the MRI slice.</a:t>
            </a:r>
            <a:br/>
            <a:r>
              <a:t>• Significance: Evaluated in our benchmark to assess whether whole-slice self-attention outperforms local convolutions on brain neoplasms.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01000" y="3931920"/>
            <a:ext cx="3429000" cy="2377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83880" y="4041648"/>
            <a:ext cx="3063240" cy="2157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A365D"/>
                </a:solidFill>
                <a:latin typeface="Calibri"/>
              </a:defRPr>
            </a:pPr>
            <a:r>
              <a:t>GeoSample: Geometry-Guided Sampling Operators for Medical Segmentation</a:t>
            </a:r>
          </a:p>
          <a:p>
            <a:pPr>
              <a:spcAft>
                <a:spcPts val="400"/>
              </a:spcAft>
              <a:defRPr sz="900" i="1">
                <a:solidFill>
                  <a:srgbClr val="2B6CB0"/>
                </a:solidFill>
                <a:latin typeface="Calibri"/>
              </a:defRPr>
            </a:pPr>
            <a:r>
              <a:t>Medical Imaging Benchmark (2025)</a:t>
            </a:r>
          </a:p>
          <a:p>
            <a:pPr>
              <a:defRPr sz="900">
                <a:solidFill>
                  <a:srgbClr val="2D3748"/>
                </a:solidFill>
                <a:latin typeface="Calibri"/>
              </a:defRPr>
            </a:pPr>
            <a:r>
              <a:t>• Replaces fixed 3×3 convolution grids with learnable directional boundary probes (orientation and step sizes).</a:t>
            </a:r>
            <a:br/>
            <a:r>
              <a:t>• Significance: Explored in our project to evaluate explicit boundary gradient and curvature token extraction on tumor margins.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B6CB0"/>
                </a:solidFill>
                <a:latin typeface="Calibri"/>
              </a:defRPr>
            </a:pPr>
            <a:r>
              <a:t>MID-SEMESTER EVALUATION • SECTION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725912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1A365D"/>
                </a:solidFill>
                <a:latin typeface="Calibri"/>
              </a:defRPr>
            </a:pPr>
            <a:r>
              <a:t>Methodology and Work Plan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5912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92240"/>
            <a:ext cx="9601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718096"/>
                </a:solidFill>
                <a:latin typeface="Calibri"/>
              </a:defRPr>
            </a:pPr>
            <a:r>
              <a:t>NIT Kurukshetra • Department of Computer Engineering • B.Tech Project (CSPC401 &amp; ITPC401)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43032" y="6492240"/>
            <a:ext cx="914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 b="1">
                <a:solidFill>
                  <a:srgbClr val="718096"/>
                </a:solidFill>
                <a:latin typeface="Calibri"/>
              </a:defRPr>
            </a:pPr>
            <a:r>
              <a:t>4 / 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5212080" cy="48920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554480"/>
            <a:ext cx="4754880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50" b="1">
                <a:solidFill>
                  <a:srgbClr val="1A365D"/>
                </a:solidFill>
                <a:latin typeface="Calibri"/>
              </a:defRPr>
            </a:pPr>
            <a:r>
              <a:t>TECHNICAL METHODOLOGY</a:t>
            </a:r>
          </a:p>
          <a:p>
            <a:pPr>
              <a:spcAft>
                <a:spcPts val="800"/>
              </a:spcAft>
              <a:defRPr sz="1000">
                <a:latin typeface="Calibri"/>
              </a:defRPr>
            </a:pPr>
            <a:r>
              <a:rPr b="1">
                <a:solidFill>
                  <a:srgbClr val="1A365D"/>
                </a:solidFill>
              </a:rPr>
              <a:t>Benchmark Dataset (BRISC 2025): </a:t>
            </a:r>
            <a:r>
              <a:rPr b="0">
                <a:solidFill>
                  <a:srgbClr val="2D3748"/>
                </a:solidFill>
              </a:rPr>
              <a:t>6,000 axial brain MRI slices (5,000 train / 1,000 test) across 4 balanced classes: Glioma, Meningioma, Pituitary, Normal. Paired ground-truth binary masks for all tumor slices.</a:t>
            </a:r>
          </a:p>
          <a:p>
            <a:pPr>
              <a:spcAft>
                <a:spcPts val="800"/>
              </a:spcAft>
              <a:defRPr sz="1000">
                <a:latin typeface="Calibri"/>
              </a:defRPr>
            </a:pPr>
            <a:r>
              <a:rPr b="1">
                <a:solidFill>
                  <a:srgbClr val="1A365D"/>
                </a:solidFill>
              </a:rPr>
              <a:t>Preprocessing Pipeline: </a:t>
            </a:r>
            <a:r>
              <a:rPr b="0">
                <a:solidFill>
                  <a:srgbClr val="2D3748"/>
                </a:solidFill>
              </a:rPr>
              <a:t>Intensity scaling, format normalization, CLAHE contrast enhancement, and multi-resolution sizing (224×224 for classification, 256×256 &amp; 512×512 for segmentation).</a:t>
            </a:r>
          </a:p>
          <a:p>
            <a:pPr>
              <a:spcAft>
                <a:spcPts val="800"/>
              </a:spcAft>
              <a:defRPr sz="1000">
                <a:latin typeface="Calibri"/>
              </a:defRPr>
            </a:pPr>
            <a:r>
              <a:rPr b="1">
                <a:solidFill>
                  <a:srgbClr val="1A365D"/>
                </a:solidFill>
              </a:rPr>
              <a:t>Classification Engine: </a:t>
            </a:r>
            <a:r>
              <a:rPr b="0">
                <a:solidFill>
                  <a:srgbClr val="2D3748"/>
                </a:solidFill>
              </a:rPr>
              <a:t>EfficientNet-B0 with ImageNet pretrained transfer learning, custom classification head, Cross-Entropy Loss, AdamW optimizer, and Cosine Annealing learning rate schedule.</a:t>
            </a:r>
          </a:p>
          <a:p>
            <a:pPr>
              <a:spcAft>
                <a:spcPts val="800"/>
              </a:spcAft>
              <a:defRPr sz="1000">
                <a:latin typeface="Calibri"/>
              </a:defRPr>
            </a:pPr>
            <a:r>
              <a:rPr b="1">
                <a:solidFill>
                  <a:srgbClr val="1A365D"/>
                </a:solidFill>
              </a:rPr>
              <a:t>Segmentation Pipeline: </a:t>
            </a:r>
            <a:r>
              <a:rPr b="0">
                <a:solidFill>
                  <a:srgbClr val="2D3748"/>
                </a:solidFill>
              </a:rPr>
              <a:t>Trained 6 architectures with hybrid Dice + Binary Cross-Entropy Loss (DiceBCELoss) to balance pixel-level classification and region overlap. Deep supervision on U-Net++.</a:t>
            </a:r>
          </a:p>
          <a:p>
            <a:pPr>
              <a:spcAft>
                <a:spcPts val="0"/>
              </a:spcAft>
              <a:defRPr sz="1000">
                <a:latin typeface="Calibri"/>
              </a:defRPr>
            </a:pPr>
            <a:r>
              <a:rPr b="1">
                <a:solidFill>
                  <a:srgbClr val="1A365D"/>
                </a:solidFill>
              </a:rPr>
              <a:t>Compute Infrastructure: </a:t>
            </a:r>
            <a:r>
              <a:rPr b="0">
                <a:solidFill>
                  <a:srgbClr val="2D3748"/>
                </a:solidFill>
              </a:rPr>
              <a:t>Local NVIDIA RTX 2050 (4 GB) + Cloud NVIDIA Tesla T4 (16 GB) utilizing FP16 Automatic Mixed Precision (AMP) for 2.2× faster training.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5352" y="1417320"/>
            <a:ext cx="5212080" cy="48920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73952" y="1554480"/>
            <a:ext cx="4754880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50" b="1">
                <a:solidFill>
                  <a:srgbClr val="1A365D"/>
                </a:solidFill>
                <a:latin typeface="Calibri"/>
              </a:defRPr>
            </a:pPr>
            <a:r>
              <a:t>PHASED PROJECT WORK PLAN</a:t>
            </a:r>
          </a:p>
          <a:p>
            <a:pPr>
              <a:spcAft>
                <a:spcPts val="400"/>
              </a:spcAft>
              <a:defRPr sz="950">
                <a:latin typeface="Calibri"/>
              </a:defRPr>
            </a:pPr>
            <a:r>
              <a:rPr b="1">
                <a:solidFill>
                  <a:srgbClr val="1A365D"/>
                </a:solidFill>
              </a:rPr>
              <a:t>• Phase 0: Environment &amp; Data Setup: </a:t>
            </a:r>
            <a:r>
              <a:rPr>
                <a:solidFill>
                  <a:srgbClr val="2D3748"/>
                </a:solidFill>
              </a:rPr>
              <a:t>Dataset acquisition, validation, PyTorch CUDA 12.4 environment configuration. </a:t>
            </a:r>
            <a:r>
              <a:rPr b="1">
                <a:solidFill>
                  <a:srgbClr val="1A365D"/>
                </a:solidFill>
              </a:rPr>
              <a:t>[Completed]</a:t>
            </a:r>
          </a:p>
          <a:p>
            <a:pPr>
              <a:spcAft>
                <a:spcPts val="400"/>
              </a:spcAft>
              <a:defRPr sz="950">
                <a:latin typeface="Calibri"/>
              </a:defRPr>
            </a:pPr>
            <a:r>
              <a:rPr b="1">
                <a:solidFill>
                  <a:srgbClr val="1A365D"/>
                </a:solidFill>
              </a:rPr>
              <a:t>• Phase 1: Preprocessing Module: </a:t>
            </a:r>
            <a:r>
              <a:rPr>
                <a:solidFill>
                  <a:srgbClr val="2D3748"/>
                </a:solidFill>
              </a:rPr>
              <a:t>Format validation, CLAHE normalization, dual-tensor transforms. </a:t>
            </a:r>
            <a:r>
              <a:rPr b="1">
                <a:solidFill>
                  <a:srgbClr val="1A365D"/>
                </a:solidFill>
              </a:rPr>
              <a:t>[Completed]</a:t>
            </a:r>
          </a:p>
          <a:p>
            <a:pPr>
              <a:spcAft>
                <a:spcPts val="400"/>
              </a:spcAft>
              <a:defRPr sz="950">
                <a:latin typeface="Calibri"/>
              </a:defRPr>
            </a:pPr>
            <a:r>
              <a:rPr b="1">
                <a:solidFill>
                  <a:srgbClr val="1A365D"/>
                </a:solidFill>
              </a:rPr>
              <a:t>• Phase 2: Classification Module: </a:t>
            </a:r>
            <a:r>
              <a:rPr>
                <a:solidFill>
                  <a:srgbClr val="2D3748"/>
                </a:solidFill>
              </a:rPr>
              <a:t>EfficientNet-B0 training, validation, and test evaluation (99.00% accuracy). </a:t>
            </a:r>
            <a:r>
              <a:rPr b="1">
                <a:solidFill>
                  <a:srgbClr val="1A365D"/>
                </a:solidFill>
              </a:rPr>
              <a:t>[Completed]</a:t>
            </a:r>
          </a:p>
          <a:p>
            <a:pPr>
              <a:spcAft>
                <a:spcPts val="400"/>
              </a:spcAft>
              <a:defRPr sz="950">
                <a:latin typeface="Calibri"/>
              </a:defRPr>
            </a:pPr>
            <a:r>
              <a:rPr b="1">
                <a:solidFill>
                  <a:srgbClr val="1A365D"/>
                </a:solidFill>
              </a:rPr>
              <a:t>• Phase 3: Segmentation Benchmarking: </a:t>
            </a:r>
            <a:r>
              <a:rPr>
                <a:solidFill>
                  <a:srgbClr val="2D3748"/>
                </a:solidFill>
              </a:rPr>
              <a:t>Trained 6 architectures; selected Pretrained ResNet-34 U-Net++ (87.78% Dice). </a:t>
            </a:r>
            <a:r>
              <a:rPr b="1">
                <a:solidFill>
                  <a:srgbClr val="1A365D"/>
                </a:solidFill>
              </a:rPr>
              <a:t>[Completed]</a:t>
            </a:r>
          </a:p>
          <a:p>
            <a:pPr>
              <a:spcAft>
                <a:spcPts val="400"/>
              </a:spcAft>
              <a:defRPr sz="950">
                <a:latin typeface="Calibri"/>
              </a:defRPr>
            </a:pPr>
            <a:r>
              <a:rPr b="1">
                <a:solidFill>
                  <a:srgbClr val="1A365D"/>
                </a:solidFill>
              </a:rPr>
              <a:t>• Phase 4: Morphometric Feature Extraction: </a:t>
            </a:r>
            <a:r>
              <a:rPr>
                <a:solidFill>
                  <a:srgbClr val="2D3748"/>
                </a:solidFill>
              </a:rPr>
              <a:t>Calculating tumor surface area (mm²), perimeter, centroid coordinates. </a:t>
            </a:r>
            <a:r>
              <a:rPr b="1">
                <a:solidFill>
                  <a:srgbClr val="2B6CB0"/>
                </a:solidFill>
              </a:rPr>
              <a:t>[Active (70%)]</a:t>
            </a:r>
          </a:p>
          <a:p>
            <a:pPr>
              <a:spcAft>
                <a:spcPts val="400"/>
              </a:spcAft>
              <a:defRPr sz="950">
                <a:latin typeface="Calibri"/>
              </a:defRPr>
            </a:pPr>
            <a:r>
              <a:rPr b="1">
                <a:solidFill>
                  <a:srgbClr val="1A365D"/>
                </a:solidFill>
              </a:rPr>
              <a:t>• Phase 5: Medical Knowledge Base (RAG): </a:t>
            </a:r>
            <a:r>
              <a:rPr>
                <a:solidFill>
                  <a:srgbClr val="2D3748"/>
                </a:solidFill>
              </a:rPr>
              <a:t>Vector store compilation (ChromaDB + all-MiniLM) for clinical guideline retrieval. </a:t>
            </a:r>
            <a:r>
              <a:rPr b="1">
                <a:solidFill>
                  <a:srgbClr val="2B6CB0"/>
                </a:solidFill>
              </a:rPr>
              <a:t>[Scheduled (Nov)]</a:t>
            </a:r>
          </a:p>
          <a:p>
            <a:pPr>
              <a:spcAft>
                <a:spcPts val="400"/>
              </a:spcAft>
              <a:defRPr sz="950">
                <a:latin typeface="Calibri"/>
              </a:defRPr>
            </a:pPr>
            <a:r>
              <a:rPr b="1">
                <a:solidFill>
                  <a:srgbClr val="1A365D"/>
                </a:solidFill>
              </a:rPr>
              <a:t>• Phase 6: Preliminary Report Generation: </a:t>
            </a:r>
            <a:r>
              <a:rPr>
                <a:solidFill>
                  <a:srgbClr val="2D3748"/>
                </a:solidFill>
              </a:rPr>
              <a:t>Gemini LLM prompt engineering for structured draft report generation. </a:t>
            </a:r>
            <a:r>
              <a:rPr b="1">
                <a:solidFill>
                  <a:srgbClr val="2B6CB0"/>
                </a:solidFill>
              </a:rPr>
              <a:t>[Scheduled (Nov)]</a:t>
            </a:r>
          </a:p>
          <a:p>
            <a:pPr>
              <a:spcAft>
                <a:spcPts val="400"/>
              </a:spcAft>
              <a:defRPr sz="950">
                <a:latin typeface="Calibri"/>
              </a:defRPr>
            </a:pPr>
            <a:r>
              <a:rPr b="1">
                <a:solidFill>
                  <a:srgbClr val="1A365D"/>
                </a:solidFill>
              </a:rPr>
              <a:t>• Phase 7: System Integration &amp; Testing: </a:t>
            </a:r>
            <a:r>
              <a:rPr>
                <a:solidFill>
                  <a:srgbClr val="2D3748"/>
                </a:solidFill>
              </a:rPr>
              <a:t>Pipeline unification, latency profiling, Streamlit deployment, final documentation. </a:t>
            </a:r>
            <a:r>
              <a:rPr b="1">
                <a:solidFill>
                  <a:srgbClr val="2B6CB0"/>
                </a:solidFill>
              </a:rPr>
              <a:t>[Scheduled (Dec)]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B6CB0"/>
                </a:solidFill>
                <a:latin typeface="Calibri"/>
              </a:defRPr>
            </a:pPr>
            <a:r>
              <a:t>MID-SEMESTER EVALUATION • SECTION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725912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1A365D"/>
                </a:solidFill>
                <a:latin typeface="Calibri"/>
              </a:defRPr>
            </a:pPr>
            <a:r>
              <a:t>Progress Achieved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5912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92240"/>
            <a:ext cx="9601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718096"/>
                </a:solidFill>
                <a:latin typeface="Calibri"/>
              </a:defRPr>
            </a:pPr>
            <a:r>
              <a:t>NIT Kurukshetra • Department of Computer Engineering • B.Tech Project (CSPC401 &amp; ITPC401)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43032" y="6492240"/>
            <a:ext cx="914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 b="1">
                <a:solidFill>
                  <a:srgbClr val="718096"/>
                </a:solidFill>
                <a:latin typeface="Calibri"/>
              </a:defRPr>
            </a:pPr>
            <a:r>
              <a:t>5 / 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10725912" cy="2011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508760"/>
            <a:ext cx="1026871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50" b="1">
                <a:solidFill>
                  <a:srgbClr val="1A365D"/>
                </a:solidFill>
                <a:latin typeface="Calibri"/>
              </a:defRPr>
            </a:pPr>
            <a:r>
              <a:t>A. TUMOR CLASSIFICATION (EfficientNet-B0 — Evaluated on 1,000 Unseen Test Scans)</a:t>
            </a:r>
          </a:p>
          <a:p>
            <a:pPr>
              <a:spcAft>
                <a:spcPts val="400"/>
              </a:spcAft>
              <a:defRPr sz="1000">
                <a:latin typeface="Calibri"/>
              </a:defRPr>
            </a:pPr>
            <a:r>
              <a:rPr b="1">
                <a:solidFill>
                  <a:srgbClr val="1A365D"/>
                </a:solidFill>
              </a:rPr>
              <a:t>Overall Performance Metrics: </a:t>
            </a:r>
            <a:r>
              <a:rPr b="0">
                <a:solidFill>
                  <a:srgbClr val="2D3748"/>
                </a:solidFill>
              </a:rPr>
              <a:t>Achieved 99.00% Test Accuracy, 0.9899 Macro-F1 Score, and 0.0529 Test Loss under the full training protocol. On standard 85/15 validation split: 98.28% Test Accuracy (0.9830 Macro-F1).</a:t>
            </a:r>
          </a:p>
          <a:p>
            <a:pPr>
              <a:spcAft>
                <a:spcPts val="400"/>
              </a:spcAft>
              <a:defRPr sz="1000">
                <a:latin typeface="Calibri"/>
              </a:defRPr>
            </a:pPr>
            <a:r>
              <a:rPr b="1">
                <a:solidFill>
                  <a:srgbClr val="1A365D"/>
                </a:solidFill>
              </a:rPr>
              <a:t>Class-Wise Precision / Recall Breakdown: </a:t>
            </a:r>
            <a:r>
              <a:rPr b="0">
                <a:solidFill>
                  <a:srgbClr val="2D3748"/>
                </a:solidFill>
              </a:rPr>
              <a:t>Glioma: 98.8% Precision / 98.4% Recall • Meningioma: 98.4% Precision / 98.0% Recall • Pituitary Tumor: 99.2% Precision / 99.6% Recall • No Tumor (Healthy): 100.0% Precision / 100.0% Recall (Zero False Positives).</a:t>
            </a:r>
          </a:p>
          <a:p>
            <a:pPr>
              <a:spcAft>
                <a:spcPts val="0"/>
              </a:spcAft>
              <a:defRPr sz="1000">
                <a:latin typeface="Calibri"/>
              </a:defRPr>
            </a:pPr>
            <a:r>
              <a:rPr b="1">
                <a:solidFill>
                  <a:srgbClr val="1A365D"/>
                </a:solidFill>
              </a:rPr>
              <a:t>Computational Efficiency: </a:t>
            </a:r>
            <a:r>
              <a:rPr b="0">
                <a:solidFill>
                  <a:srgbClr val="2D3748"/>
                </a:solidFill>
              </a:rPr>
              <a:t>Model size is only 4.01 Million parameters; per-slice inference latency is under 15 milliseconds on an edge GPU (NVIDIA RTX 2050), ensuring real-time responsiveness.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566160"/>
            <a:ext cx="6858000" cy="27432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611880"/>
            <a:ext cx="6492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1A365D"/>
                </a:solidFill>
                <a:latin typeface="Calibri"/>
              </a:defRPr>
            </a:pPr>
            <a:r>
              <a:t>B. 6-MODEL SEGMENTATION BENCHMARK (860 Unseen Test Scans)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914400" y="3931920"/>
          <a:ext cx="6492240" cy="2240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914400"/>
                <a:gridCol w="1005840"/>
                <a:gridCol w="1005840"/>
                <a:gridCol w="109728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Architecture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Params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Dice Score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Mean IoU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Outcome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1A365D"/>
                          </a:solidFill>
                          <a:latin typeface="Calibri"/>
                        </a:defRPr>
                      </a:pPr>
                      <a:r>
                        <a:t>Pretrained ResNet-34 U-Net++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1A365D"/>
                          </a:solidFill>
                          <a:latin typeface="Calibri"/>
                        </a:defRPr>
                      </a:pPr>
                      <a:r>
                        <a:t>23.67 M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1A365D"/>
                          </a:solidFill>
                          <a:latin typeface="Calibri"/>
                        </a:defRPr>
                      </a:pPr>
                      <a:r>
                        <a:t>87.78%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1A365D"/>
                          </a:solidFill>
                          <a:latin typeface="Calibri"/>
                        </a:defRPr>
                      </a:pPr>
                      <a:r>
                        <a:t>81.11%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1A365D"/>
                          </a:solidFill>
                          <a:latin typeface="Calibri"/>
                        </a:defRPr>
                      </a:pPr>
                      <a:r>
                        <a:t>Selected (SOTA)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2D3748"/>
                          </a:solidFill>
                          <a:latin typeface="Calibri"/>
                        </a:defRPr>
                      </a:pPr>
                      <a:r>
                        <a:t>Scratch U-Net++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2D3748"/>
                          </a:solidFill>
                          <a:latin typeface="Calibri"/>
                        </a:defRPr>
                      </a:pPr>
                      <a:r>
                        <a:t>9.16 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2D3748"/>
                          </a:solidFill>
                          <a:latin typeface="Calibri"/>
                        </a:defRPr>
                      </a:pPr>
                      <a:r>
                        <a:t>87.14%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2D3748"/>
                          </a:solidFill>
                          <a:latin typeface="Calibri"/>
                        </a:defRPr>
                      </a:pPr>
                      <a:r>
                        <a:t>80.18%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2D3748"/>
                          </a:solidFill>
                          <a:latin typeface="Calibri"/>
                        </a:defRPr>
                      </a:pPr>
                      <a:r>
                        <a:t>Rank 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2D3748"/>
                          </a:solidFill>
                          <a:latin typeface="Calibri"/>
                        </a:defRPr>
                      </a:pPr>
                      <a:r>
                        <a:t>Attention U-Net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2D3748"/>
                          </a:solidFill>
                          <a:latin typeface="Calibri"/>
                        </a:defRPr>
                      </a:pPr>
                      <a:r>
                        <a:t>7.98 M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2D3748"/>
                          </a:solidFill>
                          <a:latin typeface="Calibri"/>
                        </a:defRPr>
                      </a:pPr>
                      <a:r>
                        <a:t>86.96%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2D3748"/>
                          </a:solidFill>
                          <a:latin typeface="Calibri"/>
                        </a:defRPr>
                      </a:pPr>
                      <a:r>
                        <a:t>79.93%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2D3748"/>
                          </a:solidFill>
                          <a:latin typeface="Calibri"/>
                        </a:defRPr>
                      </a:pPr>
                      <a:r>
                        <a:t>Rank 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2D3748"/>
                          </a:solidFill>
                          <a:latin typeface="Calibri"/>
                        </a:defRPr>
                      </a:pPr>
                      <a:r>
                        <a:t>Standard Baseline U-Net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2D3748"/>
                          </a:solidFill>
                          <a:latin typeface="Calibri"/>
                        </a:defRPr>
                      </a:pPr>
                      <a:r>
                        <a:t>7.85 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2D3748"/>
                          </a:solidFill>
                          <a:latin typeface="Calibri"/>
                        </a:defRPr>
                      </a:pPr>
                      <a:r>
                        <a:t>86.84%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2D3748"/>
                          </a:solidFill>
                          <a:latin typeface="Calibri"/>
                        </a:defRPr>
                      </a:pPr>
                      <a:r>
                        <a:t>~79.60%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2D3748"/>
                          </a:solidFill>
                          <a:latin typeface="Calibri"/>
                        </a:defRPr>
                      </a:pPr>
                      <a:r>
                        <a:t>Baseline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2D3748"/>
                          </a:solidFill>
                          <a:latin typeface="Calibri"/>
                        </a:defRPr>
                      </a:pPr>
                      <a:r>
                        <a:t>SaberNet (Spatial Relations)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2D3748"/>
                          </a:solidFill>
                          <a:latin typeface="Calibri"/>
                        </a:defRPr>
                      </a:pPr>
                      <a:r>
                        <a:t>8.38 M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2D3748"/>
                          </a:solidFill>
                          <a:latin typeface="Calibri"/>
                        </a:defRPr>
                      </a:pPr>
                      <a:r>
                        <a:t>86.66%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2D3748"/>
                          </a:solidFill>
                          <a:latin typeface="Calibri"/>
                        </a:defRPr>
                      </a:pPr>
                      <a:r>
                        <a:t>79.70%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2D3748"/>
                          </a:solidFill>
                          <a:latin typeface="Calibri"/>
                        </a:defRPr>
                      </a:pPr>
                      <a:r>
                        <a:t>Rank 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2D3748"/>
                          </a:solidFill>
                          <a:latin typeface="Calibri"/>
                        </a:defRPr>
                      </a:pPr>
                      <a:r>
                        <a:t>GeoSample U-Net (Probes)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2D3748"/>
                          </a:solidFill>
                          <a:latin typeface="Calibri"/>
                        </a:defRPr>
                      </a:pPr>
                      <a:r>
                        <a:t>17.72 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2D3748"/>
                          </a:solidFill>
                          <a:latin typeface="Calibri"/>
                        </a:defRPr>
                      </a:pPr>
                      <a:r>
                        <a:t>86.46%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2D3748"/>
                          </a:solidFill>
                          <a:latin typeface="Calibri"/>
                        </a:defRPr>
                      </a:pPr>
                      <a:r>
                        <a:t>~79.20%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2D3748"/>
                          </a:solidFill>
                          <a:latin typeface="Calibri"/>
                        </a:defRPr>
                      </a:pPr>
                      <a:r>
                        <a:t>Rank 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7772400" y="3566160"/>
            <a:ext cx="3685032" cy="27432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55279" y="3611880"/>
            <a:ext cx="3319272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50" b="1">
                <a:solidFill>
                  <a:srgbClr val="1A365D"/>
                </a:solidFill>
                <a:latin typeface="Calibri"/>
              </a:defRPr>
            </a:pPr>
            <a:r>
              <a:t>C. INTERACTIVE STREAMLIT DASHBOARD</a:t>
            </a:r>
          </a:p>
          <a:p>
            <a:pPr>
              <a:spcAft>
                <a:spcPts val="400"/>
              </a:spcAft>
              <a:defRPr sz="900">
                <a:latin typeface="Calibri"/>
              </a:defRPr>
            </a:pPr>
            <a:r>
              <a:rPr b="1">
                <a:solidFill>
                  <a:srgbClr val="1A365D"/>
                </a:solidFill>
              </a:rPr>
              <a:t>Functional Deployment (`ui/app.py`): </a:t>
            </a:r>
            <a:r>
              <a:rPr b="0">
                <a:solidFill>
                  <a:srgbClr val="2D3748"/>
                </a:solidFill>
              </a:rPr>
              <a:t>Interactive web dashboard allowing direct upload of MRI slices with instant display of prediction KPIs, class probabilities, and boundary overlays.</a:t>
            </a:r>
          </a:p>
          <a:p>
            <a:pPr>
              <a:spcAft>
                <a:spcPts val="400"/>
              </a:spcAft>
              <a:defRPr sz="900">
                <a:latin typeface="Calibri"/>
              </a:defRPr>
            </a:pPr>
            <a:r>
              <a:rPr b="1">
                <a:solidFill>
                  <a:srgbClr val="1A365D"/>
                </a:solidFill>
              </a:rPr>
              <a:t>Real-Time Contour Rendering: </a:t>
            </a:r>
            <a:r>
              <a:rPr b="0">
                <a:solidFill>
                  <a:srgbClr val="2D3748"/>
                </a:solidFill>
              </a:rPr>
              <a:t>Alpha-blended mask visualization over anatomical scan; calculates total lesion pixels and area in mm².</a:t>
            </a:r>
          </a:p>
          <a:p>
            <a:pPr>
              <a:spcAft>
                <a:spcPts val="0"/>
              </a:spcAft>
              <a:defRPr sz="900">
                <a:latin typeface="Calibri"/>
              </a:defRPr>
            </a:pPr>
            <a:r>
              <a:rPr b="1">
                <a:solidFill>
                  <a:srgbClr val="1A365D"/>
                </a:solidFill>
              </a:rPr>
              <a:t>Singleton Model Caching: </a:t>
            </a:r>
            <a:r>
              <a:rPr b="0">
                <a:solidFill>
                  <a:srgbClr val="2D3748"/>
                </a:solidFill>
              </a:rPr>
              <a:t>Models remain preloaded in GPU memory via `MedBoardState`, eliminating cold-start reload latency.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B6CB0"/>
                </a:solidFill>
                <a:latin typeface="Calibri"/>
              </a:defRPr>
            </a:pPr>
            <a:r>
              <a:t>MID-SEMESTER EVALUATION • SECTION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725912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1A365D"/>
                </a:solidFill>
                <a:latin typeface="Calibri"/>
              </a:defRPr>
            </a:pPr>
            <a:r>
              <a:t>Future Work and Timeline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5912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92240"/>
            <a:ext cx="9601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718096"/>
                </a:solidFill>
                <a:latin typeface="Calibri"/>
              </a:defRPr>
            </a:pPr>
            <a:r>
              <a:t>NIT Kurukshetra • Department of Computer Engineering • B.Tech Project (CSPC401 &amp; ITPC401)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43032" y="6492240"/>
            <a:ext cx="914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 b="1">
                <a:solidFill>
                  <a:srgbClr val="718096"/>
                </a:solidFill>
                <a:latin typeface="Calibri"/>
              </a:defRPr>
            </a:pPr>
            <a:r>
              <a:t>6 / 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5212080" cy="48920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554480"/>
            <a:ext cx="4754880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50" b="1">
                <a:solidFill>
                  <a:srgbClr val="1A365D"/>
                </a:solidFill>
                <a:latin typeface="Calibri"/>
              </a:defRPr>
            </a:pPr>
            <a:r>
              <a:t>FUTURE WORK</a:t>
            </a:r>
          </a:p>
          <a:p>
            <a:pPr>
              <a:spcAft>
                <a:spcPts val="1000"/>
              </a:spcAft>
              <a:defRPr sz="1000">
                <a:latin typeface="Calibri"/>
              </a:defRPr>
            </a:pPr>
            <a:r>
              <a:rPr b="1">
                <a:solidFill>
                  <a:srgbClr val="1A365D"/>
                </a:solidFill>
              </a:rPr>
              <a:t>1. Finalize Morphological Feature Extractor: </a:t>
            </a:r>
            <a:r>
              <a:rPr b="0">
                <a:solidFill>
                  <a:srgbClr val="2D3748"/>
                </a:solidFill>
              </a:rPr>
              <a:t>Complete automated geometric calculation of tumor surface area, perimeter, circularity, aspect ratio, and centroid coordinates relative to anatomical midline to assist clinical staging.</a:t>
            </a:r>
          </a:p>
          <a:p>
            <a:pPr>
              <a:spcAft>
                <a:spcPts val="1000"/>
              </a:spcAft>
              <a:defRPr sz="1000">
                <a:latin typeface="Calibri"/>
              </a:defRPr>
            </a:pPr>
            <a:r>
              <a:rPr b="1">
                <a:solidFill>
                  <a:srgbClr val="1A365D"/>
                </a:solidFill>
              </a:rPr>
              <a:t>2. RAG Medical Knowledge Base Construction: </a:t>
            </a:r>
            <a:r>
              <a:rPr b="0">
                <a:solidFill>
                  <a:srgbClr val="2D3748"/>
                </a:solidFill>
              </a:rPr>
              <a:t>Build a local vector store (ChromaDB + sentence-transformers/all-MiniLM-L6-v2) populated with verified neuro-oncology guidelines (WHO CNS5 classification criteria) to retrieve clinical context for identified tumor types.</a:t>
            </a:r>
          </a:p>
          <a:p>
            <a:pPr>
              <a:spcAft>
                <a:spcPts val="1000"/>
              </a:spcAft>
              <a:defRPr sz="1000">
                <a:latin typeface="Calibri"/>
              </a:defRPr>
            </a:pPr>
            <a:r>
              <a:rPr b="1">
                <a:solidFill>
                  <a:srgbClr val="1A365D"/>
                </a:solidFill>
              </a:rPr>
              <a:t>3. LLM-Based Preliminary Report Generation: </a:t>
            </a:r>
            <a:r>
              <a:rPr b="0">
                <a:solidFill>
                  <a:srgbClr val="2D3748"/>
                </a:solidFill>
              </a:rPr>
              <a:t>Integrate Gemini API with structured diagnostic prompt templates to synthesize classification, segmentation metrics, and retrieved clinical guidelines into a standardized draft radiology report.</a:t>
            </a:r>
          </a:p>
          <a:p>
            <a:pPr>
              <a:spcAft>
                <a:spcPts val="0"/>
              </a:spcAft>
              <a:defRPr sz="1000">
                <a:latin typeface="Calibri"/>
              </a:defRPr>
            </a:pPr>
            <a:r>
              <a:rPr b="1">
                <a:solidFill>
                  <a:srgbClr val="1A365D"/>
                </a:solidFill>
              </a:rPr>
              <a:t>4. Multi-Agent Pipeline Integration &amp; Validation: </a:t>
            </a:r>
            <a:r>
              <a:rPr b="0">
                <a:solidFill>
                  <a:srgbClr val="2D3748"/>
                </a:solidFill>
              </a:rPr>
              <a:t>Unify Preprocessing, Classification, Segmentation, Feature Extraction, RAG, and Reporting agents into an autonomous workflow with clinical safety guardrails and edge-case testing.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5352" y="1417320"/>
            <a:ext cx="5212080" cy="48920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73952" y="1554480"/>
            <a:ext cx="4754880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50" b="1">
                <a:solidFill>
                  <a:srgbClr val="1A365D"/>
                </a:solidFill>
                <a:latin typeface="Calibri"/>
              </a:defRPr>
            </a:pPr>
            <a:r>
              <a:t>TIMELINE &amp; MILESTONE ROADMAP</a:t>
            </a:r>
          </a:p>
          <a:p>
            <a:pPr>
              <a:spcAft>
                <a:spcPts val="1000"/>
              </a:spcAft>
              <a:defRPr sz="1000">
                <a:latin typeface="Calibri"/>
              </a:defRPr>
            </a:pPr>
            <a:r>
              <a:rPr b="1">
                <a:solidFill>
                  <a:srgbClr val="1A365D"/>
                </a:solidFill>
              </a:rPr>
              <a:t>• Weeks 8–9 (Late October — Current):
  </a:t>
            </a:r>
            <a:r>
              <a:rPr>
                <a:solidFill>
                  <a:srgbClr val="2D3748"/>
                </a:solidFill>
              </a:rPr>
              <a:t>Mid-Semester Evaluation presentation and progress reporting. Finalize automated lesion feature extraction module (`feature_extractor.py`).</a:t>
            </a:r>
          </a:p>
          <a:p>
            <a:pPr>
              <a:spcAft>
                <a:spcPts val="1000"/>
              </a:spcAft>
              <a:defRPr sz="1000">
                <a:latin typeface="Calibri"/>
              </a:defRPr>
            </a:pPr>
            <a:r>
              <a:rPr b="1">
                <a:solidFill>
                  <a:srgbClr val="1A365D"/>
                </a:solidFill>
              </a:rPr>
              <a:t>• Weeks 10–11 (Early–Mid November):
  </a:t>
            </a:r>
            <a:r>
              <a:rPr>
                <a:solidFill>
                  <a:srgbClr val="2D3748"/>
                </a:solidFill>
              </a:rPr>
              <a:t>Construct ChromaDB vector store; ingest WHO CNS5 clinical guidelines; implement dense retrieval agent for neuro-oncology context.</a:t>
            </a:r>
          </a:p>
          <a:p>
            <a:pPr>
              <a:spcAft>
                <a:spcPts val="1000"/>
              </a:spcAft>
              <a:defRPr sz="1000">
                <a:latin typeface="Calibri"/>
              </a:defRPr>
            </a:pPr>
            <a:r>
              <a:rPr b="1">
                <a:solidFill>
                  <a:srgbClr val="1A365D"/>
                </a:solidFill>
              </a:rPr>
              <a:t>• Weeks 12–13 (Late November):
  </a:t>
            </a:r>
            <a:r>
              <a:rPr>
                <a:solidFill>
                  <a:srgbClr val="2D3748"/>
                </a:solidFill>
              </a:rPr>
              <a:t>Implement Chief Synthesis Agent using Gemini LLM; design clinical prompt templates; validate factual consistency against hallucinations.</a:t>
            </a:r>
          </a:p>
          <a:p>
            <a:pPr>
              <a:spcAft>
                <a:spcPts val="1000"/>
              </a:spcAft>
              <a:defRPr sz="1000">
                <a:latin typeface="Calibri"/>
              </a:defRPr>
            </a:pPr>
            <a:r>
              <a:rPr b="1">
                <a:solidFill>
                  <a:srgbClr val="1A365D"/>
                </a:solidFill>
              </a:rPr>
              <a:t>• Weeks 14–15 (December):
  </a:t>
            </a:r>
            <a:r>
              <a:rPr>
                <a:solidFill>
                  <a:srgbClr val="2D3748"/>
                </a:solidFill>
              </a:rPr>
              <a:t>End-to-end multi-agent integration and testing; latency profiling; UI polishing; preparation of final project dissertation and defense.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097280"/>
            <a:ext cx="944575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3800" b="1">
                <a:solidFill>
                  <a:srgbClr val="FFFFFF"/>
                </a:solidFill>
                <a:latin typeface="Calibri"/>
              </a:defRPr>
            </a:pPr>
            <a:r>
              <a:t>Thank You!</a:t>
            </a:r>
          </a:p>
          <a:p>
            <a:pPr algn="ctr">
              <a:defRPr sz="1900">
                <a:solidFill>
                  <a:srgbClr val="BFDBFE"/>
                </a:solidFill>
                <a:latin typeface="Calibri"/>
              </a:defRPr>
            </a:pPr>
            <a:r>
              <a:t>Questions &amp; Discussion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645920" y="3108960"/>
            <a:ext cx="8897112" cy="30175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920240" y="3291840"/>
            <a:ext cx="8348472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  <a:defRPr sz="1300" b="1">
                <a:solidFill>
                  <a:srgbClr val="1A365D"/>
                </a:solidFill>
                <a:latin typeface="Calibri"/>
              </a:defRPr>
            </a:pPr>
            <a:r>
              <a:t>MedBoard: Brain MRI Segmentation and Classification System</a:t>
            </a:r>
          </a:p>
          <a:p>
            <a:pPr algn="ctr">
              <a:spcAft>
                <a:spcPts val="800"/>
              </a:spcAft>
              <a:defRPr sz="1100" b="1">
                <a:solidFill>
                  <a:srgbClr val="2B6CB0"/>
                </a:solidFill>
                <a:latin typeface="Calibri"/>
              </a:defRPr>
            </a:pPr>
            <a:r>
              <a:t>Project Team: Pragya Thakur (123102162) • Shivanshu Sajwan (123102193) • Digvijay Singh (123102198)</a:t>
            </a:r>
          </a:p>
          <a:p>
            <a:pPr algn="ctr">
              <a:spcAft>
                <a:spcPts val="800"/>
              </a:spcAft>
              <a:defRPr sz="1050">
                <a:solidFill>
                  <a:srgbClr val="2D3748"/>
                </a:solidFill>
                <a:latin typeface="Calibri"/>
              </a:defRPr>
            </a:pPr>
            <a:r>
              <a:t>Project Coordinator / Mentor: Dr. Vishwas Rathi</a:t>
            </a:r>
            <a:br/>
            <a:r>
              <a:t>Evaluation Committee: Dr. Niyati Baliyan &amp; Dr. Vijay Kumar Sharma</a:t>
            </a:r>
          </a:p>
          <a:p>
            <a:pPr algn="ctr">
              <a:defRPr sz="1000" i="1">
                <a:solidFill>
                  <a:srgbClr val="718096"/>
                </a:solidFill>
                <a:latin typeface="Calibri"/>
              </a:defRPr>
            </a:pPr>
            <a:r>
              <a:t>Department of Computer Engineering • National Institute of Technology Kurukshetra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