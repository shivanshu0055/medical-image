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Calibri"/>
              </a:defRPr>
            </a:pPr>
            <a:r>
              <a:t>NATIONAL INSTITUTE OF TECHNOLOGY KURUKSHETRA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DEPARTMENT OF COMPUTER ENGINEERING • AY: 2026-27 (ODD SEMESTER)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MedBoard: Brain MRI Segmentation and Classification System</a:t>
            </a:r>
          </a:p>
          <a:p>
            <a:pPr>
              <a:defRPr sz="1300">
                <a:solidFill>
                  <a:srgbClr val="BFDBFE"/>
                </a:solidFill>
                <a:latin typeface="Calibri"/>
              </a:defRPr>
            </a:pPr>
            <a:r>
              <a:t>Mid-Semester Project Evaluation • Course: CSPC401 &amp; ITPC401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51206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466344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PROJECT TEAM MEMBERS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1A365D"/>
                </a:solidFill>
              </a:rPr>
              <a:t>•  Pragya Thakur </a:t>
            </a:r>
            <a:r>
              <a:rPr sz="1600" dirty="0">
                <a:solidFill>
                  <a:srgbClr val="718096"/>
                </a:solidFill>
              </a:rPr>
              <a:t>(123102162)
</a:t>
            </a:r>
            <a:r>
              <a:rPr sz="1600" b="1" dirty="0">
                <a:solidFill>
                  <a:srgbClr val="1A365D"/>
                </a:solidFill>
              </a:rPr>
              <a:t>•  Shivanshu Sajwan </a:t>
            </a:r>
            <a:r>
              <a:rPr sz="1600" dirty="0">
                <a:solidFill>
                  <a:srgbClr val="718096"/>
                </a:solidFill>
              </a:rPr>
              <a:t>(123102193)
</a:t>
            </a:r>
            <a:r>
              <a:rPr sz="1600" b="1" dirty="0">
                <a:solidFill>
                  <a:srgbClr val="1A365D"/>
                </a:solidFill>
              </a:rPr>
              <a:t>•  Digvijay Singh </a:t>
            </a:r>
            <a:r>
              <a:rPr sz="1600" dirty="0">
                <a:solidFill>
                  <a:srgbClr val="718096"/>
                </a:solidFill>
              </a:rPr>
              <a:t>(12310219</a:t>
            </a:r>
            <a:r>
              <a:rPr lang="en-IN" sz="1600">
                <a:solidFill>
                  <a:srgbClr val="718096"/>
                </a:solidFill>
              </a:rPr>
              <a:t>7</a:t>
            </a:r>
            <a:r>
              <a:rPr sz="1600">
                <a:solidFill>
                  <a:srgbClr val="718096"/>
                </a:solidFill>
              </a:rPr>
              <a:t>)</a:t>
            </a:r>
            <a:r>
              <a:rPr sz="1600" dirty="0">
                <a:solidFill>
                  <a:srgbClr val="718096"/>
                </a:solidFill>
              </a:rPr>
              <a:t>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46120"/>
            <a:ext cx="512064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3383280"/>
            <a:ext cx="4663440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FACULTY COORDINATOR &amp; EVALUATION COMMITTEE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sz="1600" b="1" dirty="0">
                <a:solidFill>
                  <a:srgbClr val="1A365D"/>
                </a:solidFill>
              </a:rPr>
              <a:t>Project Coordinator / Mentor: </a:t>
            </a:r>
            <a:r>
              <a:rPr sz="1600" b="0" dirty="0">
                <a:solidFill>
                  <a:srgbClr val="2D3748"/>
                </a:solidFill>
              </a:rPr>
              <a:t>Dr. Vishwas Rathi</a:t>
            </a:r>
          </a:p>
          <a:p>
            <a:pPr>
              <a:spcAft>
                <a:spcPts val="800"/>
              </a:spcAft>
              <a:defRPr sz="1100">
                <a:latin typeface="Calibri"/>
              </a:defRPr>
            </a:pPr>
            <a:r>
              <a:rPr sz="1600" b="1" dirty="0">
                <a:solidFill>
                  <a:srgbClr val="1A365D"/>
                </a:solidFill>
              </a:rPr>
              <a:t>Evaluation Committee Members: </a:t>
            </a:r>
            <a:r>
              <a:rPr sz="1600" b="0" dirty="0">
                <a:solidFill>
                  <a:srgbClr val="2D3748"/>
                </a:solidFill>
              </a:rPr>
              <a:t>Dr. Niyati </a:t>
            </a:r>
            <a:r>
              <a:rPr sz="1600" b="0" dirty="0" err="1">
                <a:solidFill>
                  <a:srgbClr val="2D3748"/>
                </a:solidFill>
              </a:rPr>
              <a:t>Baliyan</a:t>
            </a:r>
            <a:r>
              <a:rPr sz="1600" b="0" dirty="0">
                <a:solidFill>
                  <a:srgbClr val="2D3748"/>
                </a:solidFill>
              </a:rPr>
              <a:t>
Dr. Vijay Kumar Sharma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sz="1600" b="1" dirty="0">
                <a:solidFill>
                  <a:srgbClr val="1A365D"/>
                </a:solidFill>
              </a:rPr>
              <a:t>Project Type &amp; Scope: </a:t>
            </a:r>
            <a:r>
              <a:rPr sz="1600" b="0" dirty="0" err="1">
                <a:solidFill>
                  <a:srgbClr val="2D3748"/>
                </a:solidFill>
              </a:rPr>
              <a:t>B.Tech</a:t>
            </a:r>
            <a:r>
              <a:rPr sz="1600" b="0" dirty="0">
                <a:solidFill>
                  <a:srgbClr val="2D3748"/>
                </a:solidFill>
              </a:rPr>
              <a:t> Major Capstone Project (CSPC401 / ITPC401)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rPr dirty="0"/>
              <a:t>Problem Identification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2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26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PROBLEM IDENTIFICATION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Clinical Triage Burden: </a:t>
            </a:r>
            <a:r>
              <a:rPr sz="1400" b="0" dirty="0">
                <a:solidFill>
                  <a:srgbClr val="2D3748"/>
                </a:solidFill>
              </a:rPr>
              <a:t>Manual evaluation of brain MRI slices is time-consuming and subject to inter-observer variability, compounded by a global shortage of specialized neuroradiologists.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Dual Diagnostic Challenge: </a:t>
            </a:r>
            <a:r>
              <a:rPr sz="1400" b="0" dirty="0">
                <a:solidFill>
                  <a:srgbClr val="2D3748"/>
                </a:solidFill>
              </a:rPr>
              <a:t>Clinicians require both accurate tumor type identification (Glioma, Meningioma, Pituitary, Normal) and precise anatomical boundary delineation (segmentation) for biopsy and surgical planning.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Infiltrative &amp; Ambiguous Margins: </a:t>
            </a:r>
            <a:r>
              <a:rPr sz="1400" b="0" dirty="0">
                <a:solidFill>
                  <a:srgbClr val="2D3748"/>
                </a:solidFill>
              </a:rPr>
              <a:t>Intracranial neoplasms exhibit irregular, low-contrast boundaries against normal parenchyma, causing standard thresholding and shallow architectures to under-segment or leak into ventricles.</a:t>
            </a:r>
          </a:p>
          <a:p>
            <a:pPr>
              <a:spcAft>
                <a:spcPts val="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Fragmented Tooling: </a:t>
            </a:r>
            <a:r>
              <a:rPr sz="1400" b="0" dirty="0">
                <a:solidFill>
                  <a:srgbClr val="2D3748"/>
                </a:solidFill>
              </a:rPr>
              <a:t>Existing computer-aided diagnostic systems typically handle classification or segmentation in isolation, lacking a unified pipeline and interactive clinical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PROJECT OBJECTIVES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1. Automated 4-Class Classification: </a:t>
            </a:r>
            <a:r>
              <a:rPr sz="1400" b="0" dirty="0">
                <a:solidFill>
                  <a:srgbClr val="2D3748"/>
                </a:solidFill>
              </a:rPr>
              <a:t>Train a lightweight, high-accuracy deep learning classifier (EfficientNet-B0) to categorize axial brain MRI slices into Glioma, Meningioma, Pituitary Tumor, or Normal (&gt;98% accuracy target).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2. Deep Segmentation Benchmarking: </a:t>
            </a:r>
            <a:r>
              <a:rPr sz="1400" b="0" dirty="0">
                <a:solidFill>
                  <a:srgbClr val="2D3748"/>
                </a:solidFill>
              </a:rPr>
              <a:t>Implement, train, and benchmark 6 semantic segmentation architectures (Standard U-Net, Attention U-Net, Scratch U-Net++, Pretrained ResNet-34 U-Net++, </a:t>
            </a:r>
            <a:r>
              <a:rPr sz="1400" b="0" dirty="0" err="1">
                <a:solidFill>
                  <a:srgbClr val="2D3748"/>
                </a:solidFill>
              </a:rPr>
              <a:t>SaberNet</a:t>
            </a:r>
            <a:r>
              <a:rPr sz="1400" b="0" dirty="0">
                <a:solidFill>
                  <a:srgbClr val="2D3748"/>
                </a:solidFill>
              </a:rPr>
              <a:t>, </a:t>
            </a:r>
            <a:r>
              <a:rPr sz="1400" b="0" dirty="0" err="1">
                <a:solidFill>
                  <a:srgbClr val="2D3748"/>
                </a:solidFill>
              </a:rPr>
              <a:t>GeoSample</a:t>
            </a:r>
            <a:r>
              <a:rPr sz="1400" b="0" dirty="0">
                <a:solidFill>
                  <a:srgbClr val="2D3748"/>
                </a:solidFill>
              </a:rPr>
              <a:t>) on BRISC 2025.</a:t>
            </a:r>
          </a:p>
          <a:p>
            <a:pPr>
              <a:spcAft>
                <a:spcPts val="100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3. Morphological Feature Extraction: </a:t>
            </a:r>
            <a:r>
              <a:rPr sz="1400" b="0" dirty="0">
                <a:solidFill>
                  <a:srgbClr val="2D3748"/>
                </a:solidFill>
              </a:rPr>
              <a:t>Compute automated quantitative lesion metrics including tumor surface area (mm² and pixel count), perimeter, circularity, and spatial centroid.</a:t>
            </a:r>
          </a:p>
          <a:p>
            <a:pPr>
              <a:spcAft>
                <a:spcPts val="0"/>
              </a:spcAft>
              <a:defRPr sz="105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4. Interactive Clinician Dashboard: </a:t>
            </a:r>
            <a:r>
              <a:rPr sz="1400" b="0" dirty="0">
                <a:solidFill>
                  <a:srgbClr val="2D3748"/>
                </a:solidFill>
              </a:rPr>
              <a:t>Deploy an intuitive </a:t>
            </a:r>
            <a:r>
              <a:rPr sz="1400" b="0" dirty="0" err="1">
                <a:solidFill>
                  <a:srgbClr val="2D3748"/>
                </a:solidFill>
              </a:rPr>
              <a:t>Streamlit</a:t>
            </a:r>
            <a:r>
              <a:rPr sz="1400" b="0" dirty="0">
                <a:solidFill>
                  <a:srgbClr val="2D3748"/>
                </a:solidFill>
              </a:rPr>
              <a:t> interface allowing real-time MRI upload, instant mask overlay, class probability distribution visualization, and diagnostic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063240" cy="197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/>
              <a:t>U-Net: Convolutional Networks for Biomedical Image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 err="1"/>
              <a:t>Ronneberger</a:t>
            </a:r>
            <a:r>
              <a:rPr dirty="0"/>
              <a:t>, Fischer, &amp; Brox (MICCAI 2015)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dirty="0"/>
              <a:t>• </a:t>
            </a:r>
            <a:r>
              <a:rPr sz="1100" dirty="0"/>
              <a:t>Symmetric contracting (encoder) and expanding (decoder) paths connected via long skip connections.</a:t>
            </a:r>
            <a:br>
              <a:rPr sz="1100" dirty="0"/>
            </a:br>
            <a:r>
              <a:rPr sz="1100" dirty="0"/>
              <a:t>• Preserves spatial context across </a:t>
            </a:r>
            <a:r>
              <a:rPr sz="1100" dirty="0" err="1"/>
              <a:t>downsampling</a:t>
            </a:r>
            <a:r>
              <a:rPr sz="1100" dirty="0"/>
              <a:t>, serving as the foundational benchmark for medical image segmentation.</a:t>
            </a:r>
            <a:br>
              <a:rPr sz="1100" dirty="0"/>
            </a:br>
            <a:r>
              <a:rPr sz="1100" dirty="0"/>
              <a:t>• Limitation: Large semantic gap between early encoder features and deep decoder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27048"/>
            <a:ext cx="3063240" cy="197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 err="1"/>
              <a:t>UNet</a:t>
            </a:r>
            <a:r>
              <a:rPr dirty="0"/>
              <a:t>++: A Nested U-Net Architecture for Medical Image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/>
              <a:t>Zhou, </a:t>
            </a:r>
            <a:r>
              <a:rPr dirty="0" err="1"/>
              <a:t>Siddiquee</a:t>
            </a:r>
            <a:r>
              <a:rPr dirty="0"/>
              <a:t>, Tajbakhsh, &amp; Liang (IEEE TMI 2018)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sz="1100" dirty="0"/>
              <a:t>• Redesigns skip pathways using dense, nested convolutional blocks connecting encoder and decoder feature maps.</a:t>
            </a:r>
            <a:br>
              <a:rPr sz="1100" dirty="0"/>
            </a:br>
            <a:r>
              <a:rPr sz="1100" dirty="0"/>
              <a:t>• Accumulates multi-scale receptive fields at decoder nodes and incorporates deep supervision loss heads.</a:t>
            </a:r>
            <a:br>
              <a:rPr sz="1100" dirty="0"/>
            </a:br>
            <a:r>
              <a:rPr sz="1100" dirty="0"/>
              <a:t>• Significance: Demonstrated substantial gains on boundary-sensitive medical segmentation tasks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290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527048"/>
            <a:ext cx="30632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/>
              <a:t>Attention U-Net: Learning Where to Look for the Pancreas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/>
              <a:t>Oktay et al. (MIDL / </a:t>
            </a:r>
            <a:r>
              <a:rPr dirty="0" err="1"/>
              <a:t>arXiv</a:t>
            </a:r>
            <a:r>
              <a:rPr dirty="0"/>
              <a:t> 2018)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dirty="0"/>
              <a:t>• </a:t>
            </a:r>
            <a:r>
              <a:rPr sz="1100" dirty="0"/>
              <a:t>Proposes additive attention gates in skip connections conditioned on decoder gating signals.</a:t>
            </a:r>
            <a:br>
              <a:rPr sz="1100" dirty="0"/>
            </a:br>
            <a:r>
              <a:rPr sz="1100" dirty="0"/>
              <a:t>• Automatically suppresses task-irrelevant background regions while highlighting salient lesion features with minimal parameter overhead.</a:t>
            </a:r>
            <a:br>
              <a:rPr sz="1100" dirty="0"/>
            </a:br>
            <a:r>
              <a:rPr sz="1100" dirty="0"/>
              <a:t>• Significance: Improves sensitivity to small target structures without extra computational complexity.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3063240" cy="197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 err="1"/>
              <a:t>EfficientNet</a:t>
            </a:r>
            <a:r>
              <a:rPr dirty="0"/>
              <a:t>: Rethinking Model Scaling for Convolutional Neural Networks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/>
              <a:t>Tan &amp; Le (ICML 2019)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sz="1100" dirty="0"/>
              <a:t>• Establishes compound scaling, systematically balancing network depth, width, and input image resolution.</a:t>
            </a:r>
            <a:br>
              <a:rPr sz="1100" dirty="0"/>
            </a:br>
            <a:r>
              <a:rPr sz="1100" dirty="0"/>
              <a:t>• EfficientNet-B0 provides competitive ImageNet top-1 accuracy with only 4.01M parameters.</a:t>
            </a:r>
            <a:br>
              <a:rPr sz="1100" dirty="0"/>
            </a:br>
            <a:r>
              <a:rPr sz="1100" dirty="0"/>
              <a:t>• Significance: Ideal candidate for real-time clinical triage, preventing overfitting on moderate medical datasets.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4886" y="4018788"/>
            <a:ext cx="306324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 err="1"/>
              <a:t>SaberNet</a:t>
            </a:r>
            <a:r>
              <a:rPr dirty="0"/>
              <a:t>: Self-Attention Based Effective Relation Network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/>
              <a:t>Pattern Recognition (2023)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dirty="0"/>
              <a:t>• </a:t>
            </a:r>
            <a:r>
              <a:rPr sz="1100" dirty="0"/>
              <a:t>Formulates spatial relation matrices (Q·K^T / √d) to capture global pairwise pixel dependencies across the MRI slice.</a:t>
            </a:r>
            <a:br>
              <a:rPr sz="1100" dirty="0"/>
            </a:br>
            <a:r>
              <a:rPr sz="1100" dirty="0"/>
              <a:t>• Significance: Evaluated in our benchmark to assess whether whole-slice self-attention outperforms local convolutions on brain neoplasms.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31920"/>
            <a:ext cx="34290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4041648"/>
            <a:ext cx="306324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  <a:latin typeface="Calibri"/>
              </a:defRPr>
            </a:pPr>
            <a:r>
              <a:rPr dirty="0" err="1"/>
              <a:t>GeoSample</a:t>
            </a:r>
            <a:r>
              <a:rPr dirty="0"/>
              <a:t>: Geometry-Guided Sampling Operators for Medical Segmentation</a:t>
            </a:r>
          </a:p>
          <a:p>
            <a:pPr>
              <a:spcAft>
                <a:spcPts val="400"/>
              </a:spcAft>
              <a:defRPr sz="900" i="1">
                <a:solidFill>
                  <a:srgbClr val="2B6CB0"/>
                </a:solidFill>
                <a:latin typeface="Calibri"/>
              </a:defRPr>
            </a:pPr>
            <a:r>
              <a:rPr dirty="0"/>
              <a:t>Medical Imaging Benchmark (2025)</a:t>
            </a:r>
          </a:p>
          <a:p>
            <a:pPr>
              <a:defRPr sz="900">
                <a:solidFill>
                  <a:srgbClr val="2D3748"/>
                </a:solidFill>
                <a:latin typeface="Calibri"/>
              </a:defRPr>
            </a:pPr>
            <a:r>
              <a:rPr sz="1100" dirty="0"/>
              <a:t>• Replaces fixed 3×3 convolution grids with learnable directional boundary probes (orientation and step sizes).</a:t>
            </a:r>
            <a:br>
              <a:rPr sz="1100" dirty="0"/>
            </a:br>
            <a:r>
              <a:rPr sz="1100" dirty="0"/>
              <a:t>• Significance: Explored in our project to evaluate explicit boundary gradient and curvature token extraction on tumor margins.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Methodology and Work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TECHNICAL METHODOLOGY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Benchmark Dataset (BRISC 2025): </a:t>
            </a:r>
            <a:r>
              <a:rPr b="0">
                <a:solidFill>
                  <a:srgbClr val="2D3748"/>
                </a:solidFill>
              </a:rPr>
              <a:t>6,000 axial brain MRI slices (5,000 train / 1,000 test) across 4 balanced classes: Glioma, Meningioma, Pituitary, Normal. Paired ground-truth binary masks for all tumor slices.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Preprocessing Pipeline: </a:t>
            </a:r>
            <a:r>
              <a:rPr b="0">
                <a:solidFill>
                  <a:srgbClr val="2D3748"/>
                </a:solidFill>
              </a:rPr>
              <a:t>Intensity scaling, format normalization, CLAHE contrast enhancement, and multi-resolution sizing (224×224 for classification, 256×256 &amp; 512×512 for segmentation).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Classification Engine: </a:t>
            </a:r>
            <a:r>
              <a:rPr b="0">
                <a:solidFill>
                  <a:srgbClr val="2D3748"/>
                </a:solidFill>
              </a:rPr>
              <a:t>EfficientNet-B0 with ImageNet pretrained transfer learning, custom classification head, Cross-Entropy Loss, AdamW optimizer, and Cosine Annealing learning rate schedule.</a:t>
            </a:r>
          </a:p>
          <a:p>
            <a:pPr>
              <a:spcAft>
                <a:spcPts val="8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Segmentation Pipeline: </a:t>
            </a:r>
            <a:r>
              <a:rPr b="0">
                <a:solidFill>
                  <a:srgbClr val="2D3748"/>
                </a:solidFill>
              </a:rPr>
              <a:t>Trained 6 architectures with hybrid Dice + Binary Cross-Entropy Loss (DiceBCELoss) to balance pixel-level classification and region overlap. Deep supervision on U-Net++.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Compute Infrastructure: </a:t>
            </a:r>
            <a:r>
              <a:rPr b="0">
                <a:solidFill>
                  <a:srgbClr val="2D3748"/>
                </a:solidFill>
              </a:rPr>
              <a:t>Local NVIDIA RTX 2050 (4 GB) + Cloud NVIDIA Tesla T4 (16 GB) utilizing FP16 Automatic Mixed Precision (AMP) for 2.2× faster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t>PHASED PROJECT WORK PLAN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0: Environment &amp; Data Setup: </a:t>
            </a:r>
            <a:r>
              <a:rPr>
                <a:solidFill>
                  <a:srgbClr val="2D3748"/>
                </a:solidFill>
              </a:rPr>
              <a:t>Dataset acquisition, validation, PyTorch CUDA 12.4 environment configuration.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1: Preprocessing Module: </a:t>
            </a:r>
            <a:r>
              <a:rPr>
                <a:solidFill>
                  <a:srgbClr val="2D3748"/>
                </a:solidFill>
              </a:rPr>
              <a:t>Format validation, CLAHE normalization, dual-tensor transforms.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2: Classification Module: </a:t>
            </a:r>
            <a:r>
              <a:rPr>
                <a:solidFill>
                  <a:srgbClr val="2D3748"/>
                </a:solidFill>
              </a:rPr>
              <a:t>EfficientNet-B0 training, validation, and test evaluation (99.00% accuracy).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3: Segmentation Benchmarking: </a:t>
            </a:r>
            <a:r>
              <a:rPr>
                <a:solidFill>
                  <a:srgbClr val="2D3748"/>
                </a:solidFill>
              </a:rPr>
              <a:t>Trained 6 architectures; selected Pretrained ResNet-34 U-Net++ (87.78% Dice). </a:t>
            </a:r>
            <a:r>
              <a:rPr b="1">
                <a:solidFill>
                  <a:srgbClr val="1A365D"/>
                </a:solidFill>
              </a:rPr>
              <a:t>[Completed]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4: Morphometric Feature Extraction: </a:t>
            </a:r>
            <a:r>
              <a:rPr>
                <a:solidFill>
                  <a:srgbClr val="2D3748"/>
                </a:solidFill>
              </a:rPr>
              <a:t>Calculating tumor surface area (mm²), perimeter, centroid coordinates. </a:t>
            </a:r>
            <a:r>
              <a:rPr b="1">
                <a:solidFill>
                  <a:srgbClr val="2B6CB0"/>
                </a:solidFill>
              </a:rPr>
              <a:t>[Active (70%)]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5: Medical Knowledge Base (RAG): </a:t>
            </a:r>
            <a:r>
              <a:rPr>
                <a:solidFill>
                  <a:srgbClr val="2D3748"/>
                </a:solidFill>
              </a:rPr>
              <a:t>Vector store compilation (ChromaDB + all-MiniLM) for clinical guideline retrieval. </a:t>
            </a:r>
            <a:r>
              <a:rPr b="1">
                <a:solidFill>
                  <a:srgbClr val="2B6CB0"/>
                </a:solidFill>
              </a:rPr>
              <a:t>[Scheduled (Nov)]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6: Preliminary Report Generation: </a:t>
            </a:r>
            <a:r>
              <a:rPr>
                <a:solidFill>
                  <a:srgbClr val="2D3748"/>
                </a:solidFill>
              </a:rPr>
              <a:t>Gemini LLM prompt engineering for structured draft report generation. </a:t>
            </a:r>
            <a:r>
              <a:rPr b="1">
                <a:solidFill>
                  <a:srgbClr val="2B6CB0"/>
                </a:solidFill>
              </a:rPr>
              <a:t>[Scheduled (Nov)]</a:t>
            </a:r>
          </a:p>
          <a:p>
            <a:pPr>
              <a:spcAft>
                <a:spcPts val="400"/>
              </a:spcAft>
              <a:defRPr sz="95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• Phase 7: System Integration &amp; Testing: </a:t>
            </a:r>
            <a:r>
              <a:rPr>
                <a:solidFill>
                  <a:srgbClr val="2D3748"/>
                </a:solidFill>
              </a:rPr>
              <a:t>Pipeline unification, latency profiling, Streamlit deployment, final documentation. </a:t>
            </a:r>
            <a:r>
              <a:rPr b="1">
                <a:solidFill>
                  <a:srgbClr val="2B6CB0"/>
                </a:solidFill>
              </a:rPr>
              <a:t>[Scheduled (Dec)]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Progress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5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10268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A365D"/>
                </a:solidFill>
                <a:latin typeface="Calibri"/>
              </a:defRPr>
            </a:pPr>
            <a:r>
              <a:t>A. TUMOR CLASSIFICATION (EfficientNet-B0 — Evaluated on 1,000 Unseen Test Scans)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Overall Performance Metrics: </a:t>
            </a:r>
            <a:r>
              <a:rPr b="0">
                <a:solidFill>
                  <a:srgbClr val="2D3748"/>
                </a:solidFill>
              </a:rPr>
              <a:t>Achieved 99.00% Test Accuracy, 0.9899 Macro-F1 Score, and 0.0529 Test Loss under the full training protocol. On standard 85/15 validation split: 98.28% Test Accuracy (0.9830 Macro-F1).</a:t>
            </a:r>
          </a:p>
          <a:p>
            <a:pPr>
              <a:spcAft>
                <a:spcPts val="40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Class-Wise Precision / Recall Breakdown: </a:t>
            </a:r>
            <a:r>
              <a:rPr b="0">
                <a:solidFill>
                  <a:srgbClr val="2D3748"/>
                </a:solidFill>
              </a:rPr>
              <a:t>Glioma: 98.8% Precision / 98.4% Recall • Meningioma: 98.4% Precision / 98.0% Recall • Pituitary Tumor: 99.2% Precision / 99.6% Recall • No Tumor (Healthy): 100.0% Precision / 100.0% Recall (Zero False Positives).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Computational Efficiency: </a:t>
            </a:r>
            <a:r>
              <a:rPr b="0">
                <a:solidFill>
                  <a:srgbClr val="2D3748"/>
                </a:solidFill>
              </a:rPr>
              <a:t>Model size is only 4.01 Million parameters; per-slice inference latency is under 15 milliseconds on an edge GPU (NVIDIA RTX 2050), ensuring real-time responsiveness.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68580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A365D"/>
                </a:solidFill>
                <a:latin typeface="Calibri"/>
              </a:defRPr>
            </a:pPr>
            <a:r>
              <a:t>B. 6-MODEL SEGMENTATION BENCHMARK (860 Unseen Test Scans)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931920"/>
          <a:ext cx="6492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IoU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Pretrained ResNet-34 U-Net++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23.67 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87.78%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81.11%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Selected (SOTA)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Scratch U-Net++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9.16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Attention U-Net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7.98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86.96%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Standard Baseline U-Net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7.85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SaberNet (Spatial Relations)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8.38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86.66%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79.70%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GeoSample U-Net (Probes)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17.72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86.46%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~79.20%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Rank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3566160"/>
            <a:ext cx="3685032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3611880"/>
            <a:ext cx="33192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A365D"/>
                </a:solidFill>
                <a:latin typeface="Calibri"/>
              </a:defRPr>
            </a:pPr>
            <a:r>
              <a:t>C. INTERACTIVE STREAMLIT DASHBOARD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Functional Deployment (`ui/app.py`): </a:t>
            </a:r>
            <a:r>
              <a:rPr b="0">
                <a:solidFill>
                  <a:srgbClr val="2D3748"/>
                </a:solidFill>
              </a:rPr>
              <a:t>Interactive web dashboard allowing direct upload of MRI slices with instant display of prediction KPIs, class probabilities, and boundary overlays.</a:t>
            </a:r>
          </a:p>
          <a:p>
            <a:pPr>
              <a:spcAft>
                <a:spcPts val="40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Real-Time Contour Rendering: </a:t>
            </a:r>
            <a:r>
              <a:rPr b="0">
                <a:solidFill>
                  <a:srgbClr val="2D3748"/>
                </a:solidFill>
              </a:rPr>
              <a:t>Alpha-blended mask visualization over anatomical scan; calculates total lesion pixels and area in mm².</a:t>
            </a:r>
          </a:p>
          <a:p>
            <a:pPr>
              <a:spcAft>
                <a:spcPts val="0"/>
              </a:spcAft>
              <a:defRPr sz="900"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Singleton Model Caching: </a:t>
            </a:r>
            <a:r>
              <a:rPr b="0">
                <a:solidFill>
                  <a:srgbClr val="2D3748"/>
                </a:solidFill>
              </a:rPr>
              <a:t>Models remain preloaded in GPU memory via `MedBoardState`, eliminating cold-start reload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B6CB0"/>
                </a:solidFill>
                <a:latin typeface="Calibri"/>
              </a:defRPr>
            </a:pPr>
            <a:r>
              <a:t>MID-SEMESTER EVALUATION •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365D"/>
                </a:solidFill>
                <a:latin typeface="Calibri"/>
              </a:defRPr>
            </a:pPr>
            <a:r>
              <a:t>Future Work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Calibri"/>
              </a:defRPr>
            </a:pPr>
            <a:r>
              <a:t>NIT Kurukshetra • Department of Computer Engineering • B.Tech Project (CSPC401 &amp; ITPC401)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49224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718096"/>
                </a:solidFill>
                <a:latin typeface="Calibri"/>
              </a:defRPr>
            </a:pPr>
            <a:r>
              <a:t>6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48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FUTURE WORK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1. Finalize Morphological Feature Extractor: </a:t>
            </a:r>
            <a:r>
              <a:rPr sz="1400" b="0" dirty="0">
                <a:solidFill>
                  <a:srgbClr val="2D3748"/>
                </a:solidFill>
              </a:rPr>
              <a:t>Complete automated geometric calculation of tumor surface area, perimeter, circularity, aspect ratio, and centroid coordinates relative to anatomical midline to assist clinical staging.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2. RAG Medical Knowledge Base Construction: </a:t>
            </a:r>
            <a:r>
              <a:rPr sz="1400" b="0" dirty="0">
                <a:solidFill>
                  <a:srgbClr val="2D3748"/>
                </a:solidFill>
              </a:rPr>
              <a:t>Build a local vector store (</a:t>
            </a:r>
            <a:r>
              <a:rPr sz="1400" b="0" dirty="0" err="1">
                <a:solidFill>
                  <a:srgbClr val="2D3748"/>
                </a:solidFill>
              </a:rPr>
              <a:t>ChromaDB</a:t>
            </a:r>
            <a:r>
              <a:rPr sz="1400" b="0" dirty="0">
                <a:solidFill>
                  <a:srgbClr val="2D3748"/>
                </a:solidFill>
              </a:rPr>
              <a:t> + sentence-transformers/all-MiniLM-L6-v2) populated with verified neuro-oncology guidelines (WHO CNS5 classification criteria) to retrieve clinical context for identified tumor types.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3. LLM-Based Preliminary Report Generation: </a:t>
            </a:r>
            <a:r>
              <a:rPr sz="1400" b="0" dirty="0">
                <a:solidFill>
                  <a:srgbClr val="2D3748"/>
                </a:solidFill>
              </a:rPr>
              <a:t>Integrate Gemini API with structured diagnostic prompt templates to synthesize classification, segmentation metrics, and retrieved clinical guidelines into a standardized draft radiology report.</a:t>
            </a:r>
          </a:p>
          <a:p>
            <a:pPr>
              <a:spcAft>
                <a:spcPts val="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4. Multi-Agent Pipeline Integration &amp; Validation: </a:t>
            </a:r>
            <a:r>
              <a:rPr sz="1400" b="0" dirty="0">
                <a:solidFill>
                  <a:srgbClr val="2D3748"/>
                </a:solidFill>
              </a:rPr>
              <a:t>Unify Preprocessing, Classification, Segmentation, Feature Extraction, RAG, and Reporting agents into an autonomous workflow with clinical safety guardrails and edge-case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2120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4754880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 dirty="0"/>
              <a:t>TIMELINE &amp; MILESTONE ROADMAP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b="1" dirty="0">
                <a:solidFill>
                  <a:srgbClr val="1A365D"/>
                </a:solidFill>
              </a:rPr>
              <a:t>• </a:t>
            </a:r>
            <a:r>
              <a:rPr sz="1400" b="1" dirty="0">
                <a:solidFill>
                  <a:srgbClr val="1A365D"/>
                </a:solidFill>
              </a:rPr>
              <a:t>(Late October — Current):
  </a:t>
            </a:r>
            <a:r>
              <a:rPr sz="1400" dirty="0">
                <a:solidFill>
                  <a:srgbClr val="2D3748"/>
                </a:solidFill>
              </a:rPr>
              <a:t>Mid-Semester Evaluation presentation and progress reporting. Finalize automated lesion feature extraction module (`feature_extractor.py`).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• (Early–Mid November):
  </a:t>
            </a:r>
            <a:r>
              <a:rPr sz="1400" dirty="0">
                <a:solidFill>
                  <a:srgbClr val="2D3748"/>
                </a:solidFill>
              </a:rPr>
              <a:t>Construct </a:t>
            </a:r>
            <a:r>
              <a:rPr sz="1400" dirty="0" err="1">
                <a:solidFill>
                  <a:srgbClr val="2D3748"/>
                </a:solidFill>
              </a:rPr>
              <a:t>ChromaDB</a:t>
            </a:r>
            <a:r>
              <a:rPr sz="1400" dirty="0">
                <a:solidFill>
                  <a:srgbClr val="2D3748"/>
                </a:solidFill>
              </a:rPr>
              <a:t> vector store; ingest WHO CNS5 clinical guidelines; implement dense retrieval agent for neuro-oncology context.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• (Late November):
  </a:t>
            </a:r>
            <a:r>
              <a:rPr sz="1400" dirty="0">
                <a:solidFill>
                  <a:srgbClr val="2D3748"/>
                </a:solidFill>
              </a:rPr>
              <a:t>Implement Chief Synthesis Agent using Gemini LLM; design clinical prompt templates; validate factual consistency against hallucinations.</a:t>
            </a:r>
          </a:p>
          <a:p>
            <a:pPr>
              <a:spcAft>
                <a:spcPts val="1000"/>
              </a:spcAft>
              <a:defRPr sz="1000">
                <a:latin typeface="Calibri"/>
              </a:defRPr>
            </a:pPr>
            <a:r>
              <a:rPr sz="1400" b="1" dirty="0">
                <a:solidFill>
                  <a:srgbClr val="1A365D"/>
                </a:solidFill>
              </a:rPr>
              <a:t>• (December):
  </a:t>
            </a:r>
            <a:r>
              <a:rPr sz="1400" dirty="0">
                <a:solidFill>
                  <a:srgbClr val="2D3748"/>
                </a:solidFill>
              </a:rPr>
              <a:t>End-to-end multi-agent integration and testing; latency profiling; UI polishing</a:t>
            </a:r>
            <a:r>
              <a:rPr lang="en-IN" sz="1400" dirty="0">
                <a:solidFill>
                  <a:srgbClr val="2D3748"/>
                </a:solidFill>
              </a:rPr>
              <a:t>.</a:t>
            </a:r>
            <a:endParaRPr sz="1400" dirty="0">
              <a:solidFill>
                <a:srgbClr val="2D374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900">
                <a:solidFill>
                  <a:srgbClr val="BFDBF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08960"/>
            <a:ext cx="88971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3291840"/>
            <a:ext cx="83484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1A365D"/>
                </a:solidFill>
                <a:latin typeface="Calibri"/>
              </a:defRPr>
            </a:pPr>
            <a:r>
              <a:t>MedBoard: Brain MRI Segmentation and Classification System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2B6CB0"/>
                </a:solidFill>
                <a:latin typeface="Calibri"/>
              </a:defRPr>
            </a:pPr>
            <a:r>
              <a:t>Project Team: Pragya Thakur (123102162) • Shivanshu Sajwan (123102193) • Digvijay Singh (123102198)</a:t>
            </a:r>
          </a:p>
          <a:p>
            <a:pPr algn="ctr">
              <a:spcAft>
                <a:spcPts val="800"/>
              </a:spcAft>
              <a:defRPr sz="1050">
                <a:solidFill>
                  <a:srgbClr val="2D3748"/>
                </a:solidFill>
                <a:latin typeface="Calibri"/>
              </a:defRPr>
            </a:pPr>
            <a:r>
              <a:t>Project Coordinator / Mentor: Dr. Vishwas Rathi</a:t>
            </a:r>
            <a:br/>
            <a:r>
              <a:t>Evaluation Committee: Dr. Niyati Baliyan &amp; Dr. Vijay Kumar Sharma</a:t>
            </a:r>
          </a:p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Department of Computer Engineering • National Institute of Technology Kurukshetra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1851</Words>
  <Application>Microsoft Office PowerPoint</Application>
  <PresentationFormat>Widescreen</PresentationFormat>
  <Paragraphs>133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Shivanshu Sajwan</cp:lastModifiedBy>
  <cp:revision>4</cp:revision>
  <dcterms:created xsi:type="dcterms:W3CDTF">2013-01-27T09:14:16Z</dcterms:created>
  <dcterms:modified xsi:type="dcterms:W3CDTF">2026-10-27T05:44:17Z</dcterms:modified>
  <cp:category/>
</cp:coreProperties>
</file>